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78" r:id="rId5"/>
    <p:sldId id="281" r:id="rId6"/>
    <p:sldId id="279" r:id="rId7"/>
    <p:sldId id="280" r:id="rId8"/>
    <p:sldId id="282" r:id="rId9"/>
    <p:sldId id="27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F9AD6F-ACAE-4D67-8DDA-D98C7612B477}" v="5" dt="2026-10-07T12:56:58.7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655" autoAdjust="0"/>
  </p:normalViewPr>
  <p:slideViewPr>
    <p:cSldViewPr snapToGrid="0">
      <p:cViewPr varScale="1">
        <p:scale>
          <a:sx n="96" d="100"/>
          <a:sy n="96" d="100"/>
        </p:scale>
        <p:origin x="108" y="16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 de Droog" userId="3ea1787d3693c09c" providerId="LiveId" clId="{20620065-C08F-41CF-B954-B8DD4409FD95}"/>
    <pc:docChg chg="addSld modSld sldOrd">
      <pc:chgData name="Marc de Droog" userId="3ea1787d3693c09c" providerId="LiveId" clId="{20620065-C08F-41CF-B954-B8DD4409FD95}" dt="2026-10-07T12:56:58.747" v="5"/>
      <pc:docMkLst>
        <pc:docMk/>
      </pc:docMkLst>
      <pc:sldChg chg="modSp">
        <pc:chgData name="Marc de Droog" userId="3ea1787d3693c09c" providerId="LiveId" clId="{20620065-C08F-41CF-B954-B8DD4409FD95}" dt="2026-10-07T12:27:45.365" v="0"/>
        <pc:sldMkLst>
          <pc:docMk/>
          <pc:sldMk cId="608796113" sldId="278"/>
        </pc:sldMkLst>
        <pc:spChg chg="mod">
          <ac:chgData name="Marc de Droog" userId="3ea1787d3693c09c" providerId="LiveId" clId="{20620065-C08F-41CF-B954-B8DD4409FD95}" dt="2026-10-07T12:27:45.365" v="0"/>
          <ac:spMkLst>
            <pc:docMk/>
            <pc:sldMk cId="608796113" sldId="278"/>
            <ac:spMk id="2" creationId="{9528DBD1-DB29-D44F-FD5A-3071BB37EF37}"/>
          </ac:spMkLst>
        </pc:spChg>
      </pc:sldChg>
      <pc:sldChg chg="modSp">
        <pc:chgData name="Marc de Droog" userId="3ea1787d3693c09c" providerId="LiveId" clId="{20620065-C08F-41CF-B954-B8DD4409FD95}" dt="2026-10-07T12:30:49.766" v="1"/>
        <pc:sldMkLst>
          <pc:docMk/>
          <pc:sldMk cId="4293325151" sldId="279"/>
        </pc:sldMkLst>
        <pc:spChg chg="mod">
          <ac:chgData name="Marc de Droog" userId="3ea1787d3693c09c" providerId="LiveId" clId="{20620065-C08F-41CF-B954-B8DD4409FD95}" dt="2026-10-07T12:30:49.766" v="1"/>
          <ac:spMkLst>
            <pc:docMk/>
            <pc:sldMk cId="4293325151" sldId="279"/>
            <ac:spMk id="2" creationId="{2CE886B3-FE05-7BD7-2889-BD514FC74066}"/>
          </ac:spMkLst>
        </pc:spChg>
      </pc:sldChg>
      <pc:sldChg chg="addSp modSp add ord">
        <pc:chgData name="Marc de Droog" userId="3ea1787d3693c09c" providerId="LiveId" clId="{20620065-C08F-41CF-B954-B8DD4409FD95}" dt="2026-10-07T12:56:58.747" v="5"/>
        <pc:sldMkLst>
          <pc:docMk/>
          <pc:sldMk cId="1740153309" sldId="281"/>
        </pc:sldMkLst>
        <pc:spChg chg="mod">
          <ac:chgData name="Marc de Droog" userId="3ea1787d3693c09c" providerId="LiveId" clId="{20620065-C08F-41CF-B954-B8DD4409FD95}" dt="2026-10-07T12:54:24.699" v="3"/>
          <ac:spMkLst>
            <pc:docMk/>
            <pc:sldMk cId="1740153309" sldId="281"/>
            <ac:spMk id="11" creationId="{3D529E1D-BFC4-4ACB-9702-B98DC39DA4AE}"/>
          </ac:spMkLst>
        </pc:spChg>
        <pc:spChg chg="add mod">
          <ac:chgData name="Marc de Droog" userId="3ea1787d3693c09c" providerId="LiveId" clId="{20620065-C08F-41CF-B954-B8DD4409FD95}" dt="2026-10-07T12:56:58.747" v="5"/>
          <ac:spMkLst>
            <pc:docMk/>
            <pc:sldMk cId="1740153309" sldId="281"/>
            <ac:spMk id="22" creationId="{CE540301-ECDE-63B8-F528-B6E0A952FC6C}"/>
          </ac:spMkLst>
        </pc:spChg>
        <pc:spChg chg="add mod">
          <ac:chgData name="Marc de Droog" userId="3ea1787d3693c09c" providerId="LiveId" clId="{20620065-C08F-41CF-B954-B8DD4409FD95}" dt="2026-10-07T12:56:58.747" v="5"/>
          <ac:spMkLst>
            <pc:docMk/>
            <pc:sldMk cId="1740153309" sldId="281"/>
            <ac:spMk id="23" creationId="{2D21117B-EF7B-A567-8832-15C3BAEFC83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607092" cy="3377354"/>
          </a:xfrm>
        </p:spPr>
        <p:txBody>
          <a:bodyPr/>
          <a:lstStyle/>
          <a:p>
            <a:r>
              <a:rPr lang="en-US" dirty="0" err="1"/>
              <a:t>Novabank</a:t>
            </a:r>
            <a:r>
              <a:rPr lang="en-US" dirty="0"/>
              <a:t> web </a:t>
            </a:r>
            <a:r>
              <a:rPr lang="en-US" dirty="0" err="1"/>
              <a:t>api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cloud modernization</a:t>
            </a:r>
            <a:br>
              <a:rPr lang="en-US" dirty="0"/>
            </a:br>
            <a:r>
              <a:rPr lang="en-US" dirty="0"/>
              <a:t>proof of concept 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DC3A8-6D0F-341D-FEC7-2570227AF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F1CA0-C65E-B0D8-E539-89BA2C7AF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 and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D330B-B2CD-695F-498F-42DB660ACCD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CE540301-ECDE-63B8-F528-B6E0A952F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25216" y="2705177"/>
            <a:ext cx="9637643" cy="448990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Novabank</a:t>
            </a:r>
            <a:r>
              <a:rPr lang="en-US" sz="2400" dirty="0"/>
              <a:t> wants to evaluate public cloud and has asked </a:t>
            </a:r>
            <a:r>
              <a:rPr lang="en-US" sz="2400" dirty="0" err="1"/>
              <a:t>CloudNation</a:t>
            </a:r>
            <a:r>
              <a:rPr lang="en-US" sz="2400" dirty="0"/>
              <a:t> to develop a  proof of concept to migrate a Web API </a:t>
            </a:r>
          </a:p>
          <a:p>
            <a:endParaRPr lang="en-US" sz="24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2D21117B-EF7B-A567-8832-15C3BAEFC833}"/>
              </a:ext>
            </a:extLst>
          </p:cNvPr>
          <p:cNvSpPr txBox="1">
            <a:spLocks/>
          </p:cNvSpPr>
          <p:nvPr/>
        </p:nvSpPr>
        <p:spPr>
          <a:xfrm>
            <a:off x="1315275" y="3462474"/>
            <a:ext cx="8623434" cy="303212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Requirements:</a:t>
            </a:r>
          </a:p>
          <a:p>
            <a:pPr lvl="1"/>
            <a:r>
              <a:rPr lang="en-US" dirty="0"/>
              <a:t>Financial Services – regulated, EU data residency requirement </a:t>
            </a:r>
          </a:p>
          <a:p>
            <a:pPr lvl="1"/>
            <a:r>
              <a:rPr lang="en-US" dirty="0"/>
              <a:t>Explicit availability target – 99.90%</a:t>
            </a:r>
          </a:p>
          <a:p>
            <a:pPr lvl="1"/>
            <a:r>
              <a:rPr lang="en-US" dirty="0"/>
              <a:t>Disaster Recovery targets – RPO 1 </a:t>
            </a:r>
            <a:r>
              <a:rPr lang="en-US" dirty="0" err="1"/>
              <a:t>hr</a:t>
            </a:r>
            <a:r>
              <a:rPr lang="en-US" dirty="0"/>
              <a:t>, RTO 4 </a:t>
            </a:r>
            <a:r>
              <a:rPr lang="en-US" dirty="0" err="1"/>
              <a:t>hrs</a:t>
            </a:r>
            <a:endParaRPr lang="en-US" dirty="0"/>
          </a:p>
          <a:p>
            <a:pPr lvl="1"/>
            <a:r>
              <a:rPr lang="en-US" dirty="0"/>
              <a:t>Auditability – store and retain logs centrally for a defined term, control and restrict access</a:t>
            </a:r>
          </a:p>
        </p:txBody>
      </p:sp>
    </p:spTree>
    <p:extLst>
      <p:ext uri="{BB962C8B-B14F-4D97-AF65-F5344CB8AC3E}">
        <p14:creationId xmlns:p14="http://schemas.microsoft.com/office/powerpoint/2010/main" val="1740153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86B3-FE05-7BD7-2889-BD514FC74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19F78-E974-3607-C1BF-ED31D27B8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Web API hosted in on-premise data center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Single VM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PostgreSQL database – assumed on a single VM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Single environment – no separate dev/test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No stated, evaluated availability target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Logs kept locally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3CAAA-F7D2-DF61-5B09-655D73BD1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325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7D22-B792-3FEC-C829-10E6ED989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Target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44C179-39BD-C501-2EB4-D35024317B3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489794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Cloud platform – Azure</a:t>
            </a:r>
          </a:p>
          <a:p>
            <a:pPr lvl="1"/>
            <a:r>
              <a:rPr lang="en-US" sz="1600" dirty="0"/>
              <a:t>Driven by skills available in the project team</a:t>
            </a:r>
          </a:p>
          <a:p>
            <a:pPr lvl="1"/>
            <a:r>
              <a:rPr lang="en-US" sz="1600" dirty="0"/>
              <a:t>Deployment to Azure meets stated requirements</a:t>
            </a:r>
          </a:p>
          <a:p>
            <a:pPr lvl="1"/>
            <a:r>
              <a:rPr lang="en-US" sz="1600" dirty="0"/>
              <a:t>Other cloud platforms may be evaluated later</a:t>
            </a:r>
          </a:p>
          <a:p>
            <a:pPr marL="0" lvl="1" indent="0">
              <a:buNone/>
            </a:pPr>
            <a:r>
              <a:rPr lang="en-US" dirty="0"/>
              <a:t>Prefer Platform Services (PaaS) over Infrastructure (IaaS)</a:t>
            </a:r>
          </a:p>
          <a:p>
            <a:pPr marL="285750" lvl="1"/>
            <a:r>
              <a:rPr lang="en-US" sz="1600" dirty="0"/>
              <a:t>Azure App Service and PostgreSQL Flexible Server</a:t>
            </a:r>
          </a:p>
          <a:p>
            <a:pPr marL="285750" lvl="1"/>
            <a:r>
              <a:rPr lang="en-US" sz="1600" dirty="0"/>
              <a:t>Reduce operational overhead, improve security posture, built-in high availability features</a:t>
            </a:r>
          </a:p>
          <a:p>
            <a:pPr marL="0" lvl="1" indent="0">
              <a:buNone/>
            </a:pPr>
            <a:r>
              <a:rPr lang="en-US" sz="1600" dirty="0"/>
              <a:t>Primary – Disaster Recovery</a:t>
            </a:r>
          </a:p>
          <a:p>
            <a:pPr marL="285750" lvl="1"/>
            <a:r>
              <a:rPr lang="en-US" sz="1600" dirty="0"/>
              <a:t>Primary - West Europe, DR - North Europe</a:t>
            </a:r>
          </a:p>
          <a:p>
            <a:pPr marL="285750" lvl="1"/>
            <a:r>
              <a:rPr lang="en-US" sz="1600" dirty="0"/>
              <a:t>DR only deployed when needed</a:t>
            </a:r>
          </a:p>
          <a:p>
            <a:pPr marL="285750" lvl="1"/>
            <a:r>
              <a:rPr lang="en-US" sz="1600" dirty="0"/>
              <a:t>PostgreSQL database set for Geo Redundant back – data copied to North Europe, restored in DR</a:t>
            </a:r>
          </a:p>
          <a:p>
            <a:pPr marL="0" lvl="1" indent="0">
              <a:buNone/>
            </a:pPr>
            <a:r>
              <a:rPr lang="en-US" sz="1600" dirty="0"/>
              <a:t>Development environment</a:t>
            </a:r>
          </a:p>
          <a:p>
            <a:pPr marL="285750" lvl="1"/>
            <a:r>
              <a:rPr lang="en-US" sz="1600" dirty="0"/>
              <a:t>Separate deployment</a:t>
            </a:r>
          </a:p>
          <a:p>
            <a:pPr marL="285750" lvl="1"/>
            <a:r>
              <a:rPr lang="en-US" sz="1600" dirty="0"/>
              <a:t>Uses lower grade, cheaper component SKUs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6CCBF-942A-6917-D2D2-77C9D85B3B3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313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F4E82-E66E-5C66-B8F3-71047AFD8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8133CE-0D6D-8932-0A36-20116CC86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93" y="0"/>
            <a:ext cx="8228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026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46</TotalTime>
  <Words>241</Words>
  <Application>Microsoft Office PowerPoint</Application>
  <PresentationFormat>Widescreen</PresentationFormat>
  <Paragraphs>42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Tenorite</vt:lpstr>
      <vt:lpstr>Custom</vt:lpstr>
      <vt:lpstr>Novabank web api  cloud modernization proof of concept </vt:lpstr>
      <vt:lpstr>Context and requirements</vt:lpstr>
      <vt:lpstr>Current state assessment</vt:lpstr>
      <vt:lpstr>Target architecture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Droog</dc:creator>
  <cp:lastModifiedBy>Marc de Droog</cp:lastModifiedBy>
  <cp:revision>1</cp:revision>
  <dcterms:created xsi:type="dcterms:W3CDTF">2026-10-07T12:23:01Z</dcterms:created>
  <dcterms:modified xsi:type="dcterms:W3CDTF">2026-10-07T13:09:17Z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