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78" r:id="rId5"/>
    <p:sldId id="281" r:id="rId6"/>
    <p:sldId id="279" r:id="rId7"/>
    <p:sldId id="280" r:id="rId8"/>
    <p:sldId id="286" r:id="rId9"/>
    <p:sldId id="282" r:id="rId10"/>
    <p:sldId id="289" r:id="rId11"/>
    <p:sldId id="290" r:id="rId12"/>
    <p:sldId id="283" r:id="rId13"/>
    <p:sldId id="288" r:id="rId14"/>
    <p:sldId id="284" r:id="rId15"/>
    <p:sldId id="287" r:id="rId16"/>
    <p:sldId id="271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1F9AD6F-ACAE-4D67-8DDA-D98C7612B477}" v="51" dt="2026-10-07T16:38:43.3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0655" autoAdjust="0"/>
  </p:normalViewPr>
  <p:slideViewPr>
    <p:cSldViewPr snapToGrid="0">
      <p:cViewPr varScale="1">
        <p:scale>
          <a:sx n="100" d="100"/>
          <a:sy n="100" d="100"/>
        </p:scale>
        <p:origin x="948" y="78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c de Droog" userId="df9411d4-8164-4834-947f-ec80a422ebbb" providerId="ADAL" clId="{20620065-C08F-41CF-B954-B8DD4409FD95}"/>
    <pc:docChg chg="custSel addSld modSld">
      <pc:chgData name="Marc de Droog" userId="df9411d4-8164-4834-947f-ec80a422ebbb" providerId="ADAL" clId="{20620065-C08F-41CF-B954-B8DD4409FD95}" dt="2026-10-07T16:39:51.161" v="21" actId="1076"/>
      <pc:docMkLst>
        <pc:docMk/>
      </pc:docMkLst>
      <pc:sldChg chg="addSp delSp modSp mod delAnim">
        <pc:chgData name="Marc de Droog" userId="df9411d4-8164-4834-947f-ec80a422ebbb" providerId="ADAL" clId="{20620065-C08F-41CF-B954-B8DD4409FD95}" dt="2026-10-07T16:39:31.795" v="19" actId="2085"/>
        <pc:sldMkLst>
          <pc:docMk/>
          <pc:sldMk cId="1030026327" sldId="282"/>
        </pc:sldMkLst>
        <pc:spChg chg="add mod">
          <ac:chgData name="Marc de Droog" userId="df9411d4-8164-4834-947f-ec80a422ebbb" providerId="ADAL" clId="{20620065-C08F-41CF-B954-B8DD4409FD95}" dt="2026-10-07T16:39:31.795" v="19" actId="2085"/>
          <ac:spMkLst>
            <pc:docMk/>
            <pc:sldMk cId="1030026327" sldId="282"/>
            <ac:spMk id="2" creationId="{C1C38860-9AFD-ED39-0655-6FF7B6DAE142}"/>
          </ac:spMkLst>
        </pc:spChg>
        <pc:spChg chg="del">
          <ac:chgData name="Marc de Droog" userId="df9411d4-8164-4834-947f-ec80a422ebbb" providerId="ADAL" clId="{20620065-C08F-41CF-B954-B8DD4409FD95}" dt="2026-10-07T16:38:36.055" v="0" actId="478"/>
          <ac:spMkLst>
            <pc:docMk/>
            <pc:sldMk cId="1030026327" sldId="282"/>
            <ac:spMk id="7" creationId="{0C807597-5FEF-B45E-C0A3-0E21ACA3E6EB}"/>
          </ac:spMkLst>
        </pc:spChg>
      </pc:sldChg>
      <pc:sldChg chg="addSp modSp add mod">
        <pc:chgData name="Marc de Droog" userId="df9411d4-8164-4834-947f-ec80a422ebbb" providerId="ADAL" clId="{20620065-C08F-41CF-B954-B8DD4409FD95}" dt="2026-10-07T16:39:51.161" v="21" actId="1076"/>
        <pc:sldMkLst>
          <pc:docMk/>
          <pc:sldMk cId="1318324342" sldId="289"/>
        </pc:sldMkLst>
        <pc:spChg chg="add mod">
          <ac:chgData name="Marc de Droog" userId="df9411d4-8164-4834-947f-ec80a422ebbb" providerId="ADAL" clId="{20620065-C08F-41CF-B954-B8DD4409FD95}" dt="2026-10-07T16:39:51.161" v="21" actId="1076"/>
          <ac:spMkLst>
            <pc:docMk/>
            <pc:sldMk cId="1318324342" sldId="289"/>
            <ac:spMk id="3" creationId="{245B0CF3-BC1F-AE03-EB90-42697053C12B}"/>
          </ac:spMkLst>
        </pc:spChg>
      </pc:sldChg>
      <pc:sldChg chg="add">
        <pc:chgData name="Marc de Droog" userId="df9411d4-8164-4834-947f-ec80a422ebbb" providerId="ADAL" clId="{20620065-C08F-41CF-B954-B8DD4409FD95}" dt="2026-10-07T16:38:43.347" v="2"/>
        <pc:sldMkLst>
          <pc:docMk/>
          <pc:sldMk cId="1559361486" sldId="290"/>
        </pc:sldMkLst>
      </pc:sldChg>
    </pc:docChg>
  </pc:docChgLst>
  <pc:docChgLst>
    <pc:chgData name="Marc de Droog" userId="3ea1787d3693c09c" providerId="LiveId" clId="{20620065-C08F-41CF-B954-B8DD4409FD95}"/>
    <pc:docChg chg="addSld delSld modSld sldOrd">
      <pc:chgData name="Marc de Droog" userId="3ea1787d3693c09c" providerId="LiveId" clId="{20620065-C08F-41CF-B954-B8DD4409FD95}" dt="2026-10-07T16:31:39.426" v="43"/>
      <pc:docMkLst>
        <pc:docMk/>
      </pc:docMkLst>
      <pc:sldChg chg="modSp">
        <pc:chgData name="Marc de Droog" userId="3ea1787d3693c09c" providerId="LiveId" clId="{20620065-C08F-41CF-B954-B8DD4409FD95}" dt="2026-10-07T12:27:45.365" v="0"/>
        <pc:sldMkLst>
          <pc:docMk/>
          <pc:sldMk cId="608796113" sldId="278"/>
        </pc:sldMkLst>
        <pc:spChg chg="mod">
          <ac:chgData name="Marc de Droog" userId="3ea1787d3693c09c" providerId="LiveId" clId="{20620065-C08F-41CF-B954-B8DD4409FD95}" dt="2026-10-07T12:27:45.365" v="0"/>
          <ac:spMkLst>
            <pc:docMk/>
            <pc:sldMk cId="608796113" sldId="278"/>
            <ac:spMk id="2" creationId="{9528DBD1-DB29-D44F-FD5A-3071BB37EF37}"/>
          </ac:spMkLst>
        </pc:spChg>
      </pc:sldChg>
      <pc:sldChg chg="modSp">
        <pc:chgData name="Marc de Droog" userId="3ea1787d3693c09c" providerId="LiveId" clId="{20620065-C08F-41CF-B954-B8DD4409FD95}" dt="2026-10-07T12:30:49.766" v="1"/>
        <pc:sldMkLst>
          <pc:docMk/>
          <pc:sldMk cId="4293325151" sldId="279"/>
        </pc:sldMkLst>
        <pc:spChg chg="mod">
          <ac:chgData name="Marc de Droog" userId="3ea1787d3693c09c" providerId="LiveId" clId="{20620065-C08F-41CF-B954-B8DD4409FD95}" dt="2026-10-07T12:30:49.766" v="1"/>
          <ac:spMkLst>
            <pc:docMk/>
            <pc:sldMk cId="4293325151" sldId="279"/>
            <ac:spMk id="2" creationId="{2CE886B3-FE05-7BD7-2889-BD514FC74066}"/>
          </ac:spMkLst>
        </pc:spChg>
      </pc:sldChg>
      <pc:sldChg chg="addSp modSp add ord">
        <pc:chgData name="Marc de Droog" userId="3ea1787d3693c09c" providerId="LiveId" clId="{20620065-C08F-41CF-B954-B8DD4409FD95}" dt="2026-10-07T12:56:58.747" v="5"/>
        <pc:sldMkLst>
          <pc:docMk/>
          <pc:sldMk cId="1740153309" sldId="281"/>
        </pc:sldMkLst>
        <pc:spChg chg="mod">
          <ac:chgData name="Marc de Droog" userId="3ea1787d3693c09c" providerId="LiveId" clId="{20620065-C08F-41CF-B954-B8DD4409FD95}" dt="2026-10-07T12:54:24.699" v="3"/>
          <ac:spMkLst>
            <pc:docMk/>
            <pc:sldMk cId="1740153309" sldId="281"/>
            <ac:spMk id="11" creationId="{3D529E1D-BFC4-4ACB-9702-B98DC39DA4AE}"/>
          </ac:spMkLst>
        </pc:spChg>
        <pc:spChg chg="add mod">
          <ac:chgData name="Marc de Droog" userId="3ea1787d3693c09c" providerId="LiveId" clId="{20620065-C08F-41CF-B954-B8DD4409FD95}" dt="2026-10-07T12:56:58.747" v="5"/>
          <ac:spMkLst>
            <pc:docMk/>
            <pc:sldMk cId="1740153309" sldId="281"/>
            <ac:spMk id="22" creationId="{CE540301-ECDE-63B8-F528-B6E0A952FC6C}"/>
          </ac:spMkLst>
        </pc:spChg>
        <pc:spChg chg="add mod">
          <ac:chgData name="Marc de Droog" userId="3ea1787d3693c09c" providerId="LiveId" clId="{20620065-C08F-41CF-B954-B8DD4409FD95}" dt="2026-10-07T12:56:58.747" v="5"/>
          <ac:spMkLst>
            <pc:docMk/>
            <pc:sldMk cId="1740153309" sldId="281"/>
            <ac:spMk id="23" creationId="{2D21117B-EF7B-A567-8832-15C3BAEFC833}"/>
          </ac:spMkLst>
        </pc:spChg>
      </pc:sldChg>
      <pc:sldChg chg="modAnim">
        <pc:chgData name="Marc de Droog" userId="3ea1787d3693c09c" providerId="LiveId" clId="{20620065-C08F-41CF-B954-B8DD4409FD95}" dt="2026-10-07T16:06:07.223" v="34"/>
        <pc:sldMkLst>
          <pc:docMk/>
          <pc:sldMk cId="1030026327" sldId="282"/>
        </pc:sldMkLst>
      </pc:sldChg>
      <pc:sldChg chg="modSp add">
        <pc:chgData name="Marc de Droog" userId="3ea1787d3693c09c" providerId="LiveId" clId="{20620065-C08F-41CF-B954-B8DD4409FD95}" dt="2026-10-07T15:35:02.965" v="8"/>
        <pc:sldMkLst>
          <pc:docMk/>
          <pc:sldMk cId="1400367988" sldId="283"/>
        </pc:sldMkLst>
        <pc:spChg chg="mod">
          <ac:chgData name="Marc de Droog" userId="3ea1787d3693c09c" providerId="LiveId" clId="{20620065-C08F-41CF-B954-B8DD4409FD95}" dt="2026-10-07T15:35:02.965" v="8"/>
          <ac:spMkLst>
            <pc:docMk/>
            <pc:sldMk cId="1400367988" sldId="283"/>
            <ac:spMk id="6" creationId="{930B1B1C-759D-9AF0-EBAD-C7E4CD189027}"/>
          </ac:spMkLst>
        </pc:spChg>
      </pc:sldChg>
      <pc:sldChg chg="modSp add">
        <pc:chgData name="Marc de Droog" userId="3ea1787d3693c09c" providerId="LiveId" clId="{20620065-C08F-41CF-B954-B8DD4409FD95}" dt="2026-10-07T16:09:00.465" v="38"/>
        <pc:sldMkLst>
          <pc:docMk/>
          <pc:sldMk cId="2018970457" sldId="284"/>
        </pc:sldMkLst>
        <pc:spChg chg="mod">
          <ac:chgData name="Marc de Droog" userId="3ea1787d3693c09c" providerId="LiveId" clId="{20620065-C08F-41CF-B954-B8DD4409FD95}" dt="2026-10-07T16:09:00.465" v="38"/>
          <ac:spMkLst>
            <pc:docMk/>
            <pc:sldMk cId="2018970457" sldId="284"/>
            <ac:spMk id="6" creationId="{11B7893D-8A22-EA01-6F2D-54F7D7593EF2}"/>
          </ac:spMkLst>
        </pc:spChg>
      </pc:sldChg>
      <pc:sldChg chg="add">
        <pc:chgData name="Marc de Droog" userId="3ea1787d3693c09c" providerId="LiveId" clId="{20620065-C08F-41CF-B954-B8DD4409FD95}" dt="2026-10-07T15:56:04.465" v="19"/>
        <pc:sldMkLst>
          <pc:docMk/>
          <pc:sldMk cId="406916842" sldId="285"/>
        </pc:sldMkLst>
      </pc:sldChg>
      <pc:sldChg chg="add del">
        <pc:chgData name="Marc de Droog" userId="3ea1787d3693c09c" providerId="LiveId" clId="{20620065-C08F-41CF-B954-B8DD4409FD95}" dt="2026-10-07T15:55:54.165" v="18"/>
        <pc:sldMkLst>
          <pc:docMk/>
          <pc:sldMk cId="1211760635" sldId="285"/>
        </pc:sldMkLst>
      </pc:sldChg>
      <pc:sldChg chg="add">
        <pc:chgData name="Marc de Droog" userId="3ea1787d3693c09c" providerId="LiveId" clId="{20620065-C08F-41CF-B954-B8DD4409FD95}" dt="2026-10-07T15:56:35.871" v="20"/>
        <pc:sldMkLst>
          <pc:docMk/>
          <pc:sldMk cId="804405547" sldId="286"/>
        </pc:sldMkLst>
      </pc:sldChg>
      <pc:sldChg chg="modSp add">
        <pc:chgData name="Marc de Droog" userId="3ea1787d3693c09c" providerId="LiveId" clId="{20620065-C08F-41CF-B954-B8DD4409FD95}" dt="2026-10-07T16:13:00.148" v="42"/>
        <pc:sldMkLst>
          <pc:docMk/>
          <pc:sldMk cId="2440905073" sldId="287"/>
        </pc:sldMkLst>
        <pc:spChg chg="mod">
          <ac:chgData name="Marc de Droog" userId="3ea1787d3693c09c" providerId="LiveId" clId="{20620065-C08F-41CF-B954-B8DD4409FD95}" dt="2026-10-07T16:13:00.148" v="42"/>
          <ac:spMkLst>
            <pc:docMk/>
            <pc:sldMk cId="2440905073" sldId="287"/>
            <ac:spMk id="6" creationId="{25855E2E-9EDB-6E19-A737-906AC26190D0}"/>
          </ac:spMkLst>
        </pc:spChg>
      </pc:sldChg>
      <pc:sldChg chg="add del">
        <pc:chgData name="Marc de Droog" userId="3ea1787d3693c09c" providerId="LiveId" clId="{20620065-C08F-41CF-B954-B8DD4409FD95}" dt="2026-10-07T16:08:05.890" v="36"/>
        <pc:sldMkLst>
          <pc:docMk/>
          <pc:sldMk cId="2600672683" sldId="287"/>
        </pc:sldMkLst>
      </pc:sldChg>
      <pc:sldChg chg="add">
        <pc:chgData name="Marc de Droog" userId="3ea1787d3693c09c" providerId="LiveId" clId="{20620065-C08F-41CF-B954-B8DD4409FD95}" dt="2026-10-07T16:31:39.426" v="43"/>
        <pc:sldMkLst>
          <pc:docMk/>
          <pc:sldMk cId="4123477654" sldId="288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25226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9" r:id="rId3"/>
    <p:sldLayoutId id="2147483670" r:id="rId4"/>
    <p:sldLayoutId id="2147483651" r:id="rId5"/>
    <p:sldLayoutId id="2147483671" r:id="rId6"/>
    <p:sldLayoutId id="2147483672" r:id="rId7"/>
    <p:sldLayoutId id="2147483673" r:id="rId8"/>
    <p:sldLayoutId id="2147483664" r:id="rId9"/>
    <p:sldLayoutId id="2147483674" r:id="rId10"/>
    <p:sldLayoutId id="2147483653" r:id="rId11"/>
    <p:sldLayoutId id="2147483667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icrosoft/YADA" TargetMode="External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8DBD1-DB29-D44F-FD5A-3071BB37EF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38801" y="487018"/>
            <a:ext cx="5959642" cy="3377354"/>
          </a:xfrm>
        </p:spPr>
        <p:txBody>
          <a:bodyPr/>
          <a:lstStyle/>
          <a:p>
            <a:r>
              <a:rPr lang="en-US" dirty="0" err="1"/>
              <a:t>Novabank</a:t>
            </a:r>
            <a:r>
              <a:rPr lang="en-US" dirty="0"/>
              <a:t> web </a:t>
            </a:r>
            <a:r>
              <a:rPr lang="en-US" dirty="0" err="1"/>
              <a:t>api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cloud modernization</a:t>
            </a:r>
            <a:br>
              <a:rPr lang="en-US" dirty="0"/>
            </a:br>
            <a:r>
              <a:rPr lang="en-US" dirty="0"/>
              <a:t>proof of concept </a:t>
            </a:r>
          </a:p>
        </p:txBody>
      </p:sp>
    </p:spTree>
    <p:extLst>
      <p:ext uri="{BB962C8B-B14F-4D97-AF65-F5344CB8AC3E}">
        <p14:creationId xmlns:p14="http://schemas.microsoft.com/office/powerpoint/2010/main" val="608796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ADC3A8-6D0F-341D-FEC7-2570227AF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F1CA0-C65E-B0D8-E539-89BA2C7AFC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120" y="705676"/>
            <a:ext cx="9953308" cy="560557"/>
          </a:xfrm>
        </p:spPr>
        <p:txBody>
          <a:bodyPr/>
          <a:lstStyle/>
          <a:p>
            <a:r>
              <a:rPr lang="en-US" dirty="0"/>
              <a:t>Context and requirements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CD330B-B2CD-695F-498F-42DB660ACCD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CE540301-ECDE-63B8-F528-B6E0A952FC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25216" y="1850412"/>
            <a:ext cx="9637643" cy="753640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Novabank</a:t>
            </a:r>
            <a:r>
              <a:rPr lang="en-US" sz="2400" dirty="0"/>
              <a:t> wants to evaluate public cloud.</a:t>
            </a:r>
            <a:br>
              <a:rPr lang="en-US" sz="2400" dirty="0"/>
            </a:br>
            <a:r>
              <a:rPr lang="en-US" sz="2400" dirty="0"/>
              <a:t>They have asked </a:t>
            </a:r>
            <a:r>
              <a:rPr lang="en-US" sz="2400" dirty="0" err="1"/>
              <a:t>CloudNation</a:t>
            </a:r>
            <a:r>
              <a:rPr lang="en-US" sz="2400" dirty="0"/>
              <a:t> to develop a  proof of concept to migrate and modernize a Web API </a:t>
            </a:r>
          </a:p>
          <a:p>
            <a:endParaRPr lang="en-US" sz="2400" dirty="0"/>
          </a:p>
        </p:txBody>
      </p: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2D21117B-EF7B-A567-8832-15C3BAEFC833}"/>
              </a:ext>
            </a:extLst>
          </p:cNvPr>
          <p:cNvSpPr txBox="1">
            <a:spLocks/>
          </p:cNvSpPr>
          <p:nvPr/>
        </p:nvSpPr>
        <p:spPr>
          <a:xfrm>
            <a:off x="1315275" y="2985396"/>
            <a:ext cx="10263812" cy="3032125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Requirements</a:t>
            </a:r>
          </a:p>
          <a:p>
            <a:pPr lvl="1"/>
            <a:r>
              <a:rPr lang="en-US" dirty="0"/>
              <a:t>Financial Services: regulated, EU data residency requirement applies </a:t>
            </a:r>
          </a:p>
          <a:p>
            <a:pPr lvl="1"/>
            <a:r>
              <a:rPr lang="en-US" dirty="0"/>
              <a:t>Explicit availability target: 99.90%</a:t>
            </a:r>
          </a:p>
          <a:p>
            <a:pPr lvl="1"/>
            <a:r>
              <a:rPr lang="en-US" dirty="0"/>
              <a:t>Disaster Recovery targets: RPO 1 </a:t>
            </a:r>
            <a:r>
              <a:rPr lang="en-US" dirty="0" err="1"/>
              <a:t>hr</a:t>
            </a:r>
            <a:r>
              <a:rPr lang="en-US" dirty="0"/>
              <a:t>, RTO 4 </a:t>
            </a:r>
            <a:r>
              <a:rPr lang="en-US" dirty="0" err="1"/>
              <a:t>hrs</a:t>
            </a:r>
            <a:endParaRPr lang="en-US" dirty="0"/>
          </a:p>
          <a:p>
            <a:pPr lvl="1"/>
            <a:r>
              <a:rPr lang="en-US" dirty="0"/>
              <a:t>Auditability: store and retain logs centrally for a defined term, control and restrict access</a:t>
            </a:r>
          </a:p>
        </p:txBody>
      </p:sp>
    </p:spTree>
    <p:extLst>
      <p:ext uri="{BB962C8B-B14F-4D97-AF65-F5344CB8AC3E}">
        <p14:creationId xmlns:p14="http://schemas.microsoft.com/office/powerpoint/2010/main" val="1740153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886B3-FE05-7BD7-2889-BD514FC740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state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19F78-E974-3607-C1BF-ED31D27B85B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Web API hosted in on-premise data center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Single VM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PostgreSQL database – assumed on a single VM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Single environment – no separate dev/test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No stated, evaluated availability target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0" dirty="0"/>
              <a:t>Logs kept locally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3CAAA-F7D2-DF61-5B09-655D73BD1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33251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7D22-B792-3FEC-C829-10E6ED989B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Target architecture (1)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44C179-39BD-C501-2EB4-D35024317B39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265696"/>
          </a:xfrm>
        </p:spPr>
        <p:txBody>
          <a:bodyPr>
            <a:normAutofit/>
          </a:bodyPr>
          <a:lstStyle/>
          <a:p>
            <a:r>
              <a:rPr lang="en-US" sz="2400" u="sng" dirty="0"/>
              <a:t>Cloud platform – Azure</a:t>
            </a:r>
          </a:p>
          <a:p>
            <a:pPr lvl="1"/>
            <a:r>
              <a:rPr lang="en-US" sz="2400" dirty="0"/>
              <a:t>Driven by skills available in the project team</a:t>
            </a:r>
          </a:p>
          <a:p>
            <a:pPr lvl="1"/>
            <a:r>
              <a:rPr lang="en-US" sz="2400" dirty="0"/>
              <a:t>Deployment to Azure meets stated requirements</a:t>
            </a:r>
          </a:p>
          <a:p>
            <a:pPr lvl="1"/>
            <a:r>
              <a:rPr lang="en-US" sz="2400" dirty="0"/>
              <a:t>Other cloud platforms may be evaluated later</a:t>
            </a:r>
          </a:p>
          <a:p>
            <a:pPr marL="0" lvl="1" indent="0">
              <a:buNone/>
            </a:pPr>
            <a:r>
              <a:rPr lang="en-US" sz="2400" u="sng" dirty="0"/>
              <a:t>Prefer Platform Services (PaaS) over Infrastructure (IaaS)</a:t>
            </a:r>
          </a:p>
          <a:p>
            <a:pPr marL="285750" lvl="1"/>
            <a:r>
              <a:rPr lang="en-US" sz="2400" dirty="0"/>
              <a:t>Azure App Service and PostgreSQL Flexible Server</a:t>
            </a:r>
          </a:p>
          <a:p>
            <a:pPr marL="285750" lvl="1"/>
            <a:r>
              <a:rPr lang="en-US" sz="2400" dirty="0"/>
              <a:t>Reduce operational overhead, improve security posture, built-in high availability features</a:t>
            </a:r>
          </a:p>
          <a:p>
            <a:pPr marL="285750" lvl="1"/>
            <a:r>
              <a:rPr lang="en-US" sz="2400" dirty="0"/>
              <a:t>PostgreSQL server is VNET injected, it has no public endpoint</a:t>
            </a:r>
          </a:p>
          <a:p>
            <a:pPr marL="285750" lvl="1"/>
            <a:r>
              <a:rPr lang="en-US" sz="2400" dirty="0"/>
              <a:t>Web App connects to database privately through VNET Integration 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E6CCBF-942A-6917-D2D2-77C9D85B3B3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53132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53792-3AFF-B257-4630-743081B54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A47DF-AC40-8C92-F418-61FF61A9D8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Target architecture (2)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694C536-14F7-4890-67F3-293EE50E67A5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265696"/>
          </a:xfrm>
        </p:spPr>
        <p:txBody>
          <a:bodyPr>
            <a:normAutofit lnSpcReduction="10000"/>
          </a:bodyPr>
          <a:lstStyle/>
          <a:p>
            <a:pPr marL="0" lvl="1" indent="0">
              <a:buNone/>
            </a:pPr>
            <a:r>
              <a:rPr lang="en-US" sz="2400" u="sng" dirty="0"/>
              <a:t>Primary – Disaster Recovery</a:t>
            </a:r>
          </a:p>
          <a:p>
            <a:pPr marL="285750" lvl="1"/>
            <a:r>
              <a:rPr lang="en-US" sz="2400" dirty="0"/>
              <a:t>Primary: West Europe, DR: North Europe</a:t>
            </a:r>
          </a:p>
          <a:p>
            <a:pPr marL="285750" lvl="1"/>
            <a:r>
              <a:rPr lang="en-US" sz="2400" dirty="0"/>
              <a:t>DR is only deployed when Primary fails – no running costs when not needed</a:t>
            </a:r>
          </a:p>
          <a:p>
            <a:pPr marL="285750" lvl="1"/>
            <a:r>
              <a:rPr lang="en-US" sz="2400" dirty="0"/>
              <a:t>PostgreSQL database configured for Geo Redundant backup</a:t>
            </a:r>
          </a:p>
          <a:p>
            <a:pPr marL="569214" lvl="2"/>
            <a:r>
              <a:rPr lang="en-US" sz="2400" dirty="0"/>
              <a:t>Data is copied asynchronously to North Europe, restored in DR</a:t>
            </a:r>
          </a:p>
          <a:p>
            <a:pPr marL="569214" lvl="2"/>
            <a:r>
              <a:rPr lang="en-US" sz="2400" dirty="0"/>
              <a:t>Database is restored in North Europe from copy when needed</a:t>
            </a:r>
          </a:p>
          <a:p>
            <a:pPr marL="0" lvl="1" indent="0">
              <a:buNone/>
            </a:pPr>
            <a:r>
              <a:rPr lang="en-US" sz="2400" u="sng" dirty="0"/>
              <a:t>Logging</a:t>
            </a:r>
          </a:p>
          <a:p>
            <a:pPr marL="342900" lvl="1" indent="-342900"/>
            <a:r>
              <a:rPr lang="en-US" sz="2400" dirty="0"/>
              <a:t>Logs sent to </a:t>
            </a:r>
            <a:r>
              <a:rPr lang="en-US" sz="2400" dirty="0" err="1"/>
              <a:t>LogAnalytics</a:t>
            </a:r>
            <a:r>
              <a:rPr lang="en-US" sz="2400" dirty="0"/>
              <a:t> Workspaces for each environment</a:t>
            </a:r>
          </a:p>
          <a:p>
            <a:pPr marL="342900" lvl="1" indent="-342900"/>
            <a:r>
              <a:rPr lang="en-US" sz="2400" dirty="0"/>
              <a:t>Retention set to 2 years</a:t>
            </a:r>
          </a:p>
          <a:p>
            <a:pPr marL="342900" lvl="1" indent="-342900"/>
            <a:r>
              <a:rPr lang="en-US" sz="2400" dirty="0"/>
              <a:t>Access to log content restricted to members of specific Entra Security Group with </a:t>
            </a:r>
          </a:p>
          <a:p>
            <a:pPr marL="342900" lvl="1" indent="-342900"/>
            <a:endParaRPr lang="en-US" sz="24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C4D517-EBB6-FAA7-C2DA-B85D34EB342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44055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F4E82-E66E-5C66-B8F3-71047AFD8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8133CE-0D6D-8932-0A36-20116CC86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93" y="0"/>
            <a:ext cx="8228413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1C38860-9AFD-ED39-0655-6FF7B6DAE142}"/>
              </a:ext>
            </a:extLst>
          </p:cNvPr>
          <p:cNvSpPr/>
          <p:nvPr/>
        </p:nvSpPr>
        <p:spPr>
          <a:xfrm>
            <a:off x="6391275" y="276225"/>
            <a:ext cx="4210050" cy="5505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0263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25786-1404-1AFF-B110-B282BCF94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F89A52-DE53-C76D-6380-20376DE5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99B565D-2C00-238E-1A9A-CD1538458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93" y="0"/>
            <a:ext cx="8228413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245B0CF3-BC1F-AE03-EB90-42697053C12B}"/>
              </a:ext>
            </a:extLst>
          </p:cNvPr>
          <p:cNvSpPr/>
          <p:nvPr/>
        </p:nvSpPr>
        <p:spPr>
          <a:xfrm>
            <a:off x="2095500" y="323850"/>
            <a:ext cx="4210050" cy="55054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8324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3ECC8-8AE6-1DD1-D209-3E9DF397D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A287FD-D3B4-1A49-AE64-4D159B8F6B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E77952B-1624-3D41-FAFC-3170EE03F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1793" y="0"/>
            <a:ext cx="82284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6148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B890D6-C13C-7964-6812-AE917390C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4CD8D-A71F-03FF-5F3A-E3BC98BACA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development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30B1B1C-759D-9AF0-EBAD-C7E4CD189027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315392"/>
          </a:xfrm>
        </p:spPr>
        <p:txBody>
          <a:bodyPr>
            <a:normAutofit/>
          </a:bodyPr>
          <a:lstStyle/>
          <a:p>
            <a:r>
              <a:rPr lang="en-US" u="sng" dirty="0"/>
              <a:t>Infrastructure as Code</a:t>
            </a:r>
          </a:p>
          <a:p>
            <a:pPr lvl="1"/>
            <a:r>
              <a:rPr lang="en-US" sz="1600" dirty="0"/>
              <a:t>Bicep – leveraging Azure Verified Modules where possible</a:t>
            </a:r>
          </a:p>
          <a:p>
            <a:pPr lvl="1"/>
            <a:r>
              <a:rPr lang="en-US" sz="1600" dirty="0"/>
              <a:t>Single code base, parameterized for primary, dr and dev deployments </a:t>
            </a:r>
          </a:p>
          <a:p>
            <a:pPr lvl="2"/>
            <a:r>
              <a:rPr lang="en-US" sz="1600" dirty="0" err="1"/>
              <a:t>deploymentMode</a:t>
            </a:r>
            <a:r>
              <a:rPr lang="en-US" sz="1600" dirty="0"/>
              <a:t> = primary | dr</a:t>
            </a:r>
          </a:p>
          <a:p>
            <a:pPr lvl="2"/>
            <a:r>
              <a:rPr lang="en-US" sz="1600" dirty="0" err="1"/>
              <a:t>environmentMode</a:t>
            </a:r>
            <a:r>
              <a:rPr lang="en-US" sz="1600" dirty="0"/>
              <a:t> = prod | dev</a:t>
            </a:r>
          </a:p>
          <a:p>
            <a:pPr lvl="1"/>
            <a:r>
              <a:rPr lang="en-US" sz="1600" dirty="0"/>
              <a:t>No secrets in code or parameter files, password passed in from environment variable</a:t>
            </a:r>
          </a:p>
          <a:p>
            <a:pPr marL="0" lvl="1" indent="0">
              <a:buNone/>
            </a:pPr>
            <a:r>
              <a:rPr lang="en-US" u="sng" dirty="0"/>
              <a:t>No DNS reconfiguration in disaster situation</a:t>
            </a:r>
          </a:p>
          <a:p>
            <a:pPr marL="285750" lvl="1"/>
            <a:r>
              <a:rPr lang="en-US" sz="1600" dirty="0"/>
              <a:t>Single, constant FQDN: Traffic Manager automatically routes traffic to live Web App</a:t>
            </a:r>
          </a:p>
          <a:p>
            <a:pPr marL="0" lvl="1" indent="0">
              <a:buNone/>
            </a:pPr>
            <a:r>
              <a:rPr lang="en-US" u="sng" dirty="0"/>
              <a:t>Primary – Disaster Recovery</a:t>
            </a:r>
          </a:p>
          <a:p>
            <a:pPr marL="285750" lvl="1"/>
            <a:r>
              <a:rPr lang="en-US" sz="1600" dirty="0"/>
              <a:t>In disaster, just redeploy </a:t>
            </a:r>
            <a:r>
              <a:rPr lang="en-US" sz="1600" dirty="0" err="1"/>
              <a:t>main.bicep</a:t>
            </a:r>
            <a:r>
              <a:rPr lang="en-US" sz="1600" dirty="0"/>
              <a:t> with </a:t>
            </a:r>
            <a:r>
              <a:rPr lang="en-US" sz="1600" dirty="0" err="1"/>
              <a:t>deploymentMode</a:t>
            </a:r>
            <a:r>
              <a:rPr lang="en-US" sz="1600" dirty="0"/>
              <a:t> set to dr, no other actions needed</a:t>
            </a:r>
          </a:p>
          <a:p>
            <a:pPr marL="285750" lvl="1"/>
            <a:r>
              <a:rPr lang="en-US" sz="1600" dirty="0"/>
              <a:t>Database is automatically restored from copy</a:t>
            </a:r>
          </a:p>
          <a:p>
            <a:pPr marL="0" lvl="1" indent="0">
              <a:buNone/>
            </a:pPr>
            <a:r>
              <a:rPr lang="en-US" u="sng" dirty="0"/>
              <a:t>Development environment</a:t>
            </a:r>
          </a:p>
          <a:p>
            <a:pPr marL="285750" lvl="1"/>
            <a:r>
              <a:rPr lang="en-US" sz="1600" dirty="0"/>
              <a:t>Separate deployment</a:t>
            </a:r>
          </a:p>
          <a:p>
            <a:pPr marL="285750" lvl="1"/>
            <a:r>
              <a:rPr lang="en-US" sz="1600" dirty="0"/>
              <a:t>Uses lower grade, cheaper component SKUs</a:t>
            </a:r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6A76CF-551D-D96B-4DD0-734D98124EC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0367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16197-698B-9E61-B421-F705E810E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FDCE9-5099-8863-3BBE-C3E9A7F67F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Practical AI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0BD3A4D-6EE9-88F9-43B8-92B31CA67A38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265696"/>
          </a:xfrm>
        </p:spPr>
        <p:txBody>
          <a:bodyPr>
            <a:normAutofit fontScale="92500" lnSpcReduction="10000"/>
          </a:bodyPr>
          <a:lstStyle/>
          <a:p>
            <a:pPr marL="0" lvl="1" indent="0">
              <a:buNone/>
            </a:pPr>
            <a:r>
              <a:rPr lang="en-US" sz="2400" u="sng" dirty="0"/>
              <a:t>AI-assisted engineering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dirty="0"/>
              <a:t>All Bicep code was developed in </a:t>
            </a:r>
            <a:r>
              <a:rPr lang="en-US" b="1" dirty="0"/>
              <a:t>Visual Studio Code with GitHub Copilot</a:t>
            </a:r>
            <a:endParaRPr lang="en-US" dirty="0"/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dirty="0"/>
              <a:t>Copilot accelerated code generation, refactoring, troubleshooting, and documentation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dirty="0"/>
              <a:t>Generated code remained subject to human review, Bicep validation, deployment testing, and architectural judgement</a:t>
            </a:r>
          </a:p>
          <a:p>
            <a:pPr marL="0" lvl="1" indent="0">
              <a:buNone/>
            </a:pPr>
            <a:r>
              <a:rPr lang="en-US" sz="2400" u="sng" dirty="0"/>
              <a:t>AI-assisted operations – options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b="1" dirty="0" err="1"/>
              <a:t>IaC</a:t>
            </a:r>
            <a:r>
              <a:rPr lang="en-US" b="1" dirty="0"/>
              <a:t> review agent:</a:t>
            </a:r>
            <a:r>
              <a:rPr lang="en-US" dirty="0"/>
              <a:t> Review pull requests for security, resilience, logging, tagging, and configuration gaps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b="1" dirty="0"/>
              <a:t>Operations agent:</a:t>
            </a:r>
            <a:r>
              <a:rPr lang="en-US" dirty="0"/>
              <a:t> Correlate Azure Monitor and Log Analytics data and summarize incidents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b="1" dirty="0"/>
              <a:t>Cost agent:</a:t>
            </a:r>
            <a:r>
              <a:rPr lang="en-US" dirty="0"/>
              <a:t> Identify underused capacity and recommend rightsizing, especially for development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b="1" dirty="0"/>
              <a:t>DR assistant:</a:t>
            </a:r>
            <a:r>
              <a:rPr lang="en-US" dirty="0"/>
              <a:t> Guide operators through the recovery runbook and verify completion of each step</a:t>
            </a:r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r>
              <a:rPr lang="en-US" b="1" dirty="0"/>
              <a:t>Knowledge agent:</a:t>
            </a:r>
            <a:r>
              <a:rPr lang="en-US" dirty="0"/>
              <a:t> Answer operational questions using approved architecture documentation and runbooks</a:t>
            </a:r>
          </a:p>
          <a:p>
            <a:pPr fontAlgn="t"/>
            <a:r>
              <a:rPr lang="en-US" dirty="0"/>
              <a:t>AI supports engineers and operators, but production changes remain governed, auditable, and human-approved.</a:t>
            </a:r>
          </a:p>
          <a:p>
            <a:pPr lvl="0" fontAlgn="t"/>
            <a:endParaRPr lang="en-US" dirty="0"/>
          </a:p>
          <a:p>
            <a:pPr marL="342900" lvl="0" indent="-342900" fontAlgn="t">
              <a:buFont typeface="Arial" panose="020B0604020202020204" pitchFamily="34" charset="0"/>
              <a:buChar char="•"/>
            </a:pPr>
            <a:endParaRPr lang="en-US" dirty="0"/>
          </a:p>
          <a:p>
            <a:pPr marL="342900" lvl="1" indent="-342900"/>
            <a:endParaRPr lang="en-US" sz="24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093864-101C-7E40-096E-B1797575AEA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34776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3D0D8-DA1C-D17A-9FEC-808E519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52074-8433-28E2-CB9E-10D742493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Demo deployment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1B7893D-8A22-EA01-6F2D-54F7D7593EF2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126549"/>
          </a:xfrm>
        </p:spPr>
        <p:txBody>
          <a:bodyPr>
            <a:normAutofit lnSpcReduction="10000"/>
          </a:bodyPr>
          <a:lstStyle/>
          <a:p>
            <a:r>
              <a:rPr lang="en-US" sz="2000" u="sng" dirty="0"/>
              <a:t>Web API application</a:t>
            </a:r>
          </a:p>
          <a:p>
            <a:pPr lvl="1"/>
            <a:r>
              <a:rPr lang="en-US" sz="2000" dirty="0"/>
              <a:t>API component from YADA demo app </a:t>
            </a:r>
            <a:r>
              <a:rPr lang="en-US" sz="2000" dirty="0" err="1">
                <a:hlinkClick r:id="rId2"/>
              </a:rPr>
              <a:t>microsoft</a:t>
            </a:r>
            <a:r>
              <a:rPr lang="en-US" sz="2000" dirty="0">
                <a:hlinkClick r:id="rId2"/>
              </a:rPr>
              <a:t>/YADA: Yet Another Demo App</a:t>
            </a:r>
            <a:endParaRPr lang="en-US" sz="2000" dirty="0"/>
          </a:p>
          <a:p>
            <a:pPr lvl="1"/>
            <a:r>
              <a:rPr lang="en-US" sz="2000" dirty="0"/>
              <a:t>Container image deployed to Web App by </a:t>
            </a:r>
            <a:r>
              <a:rPr lang="en-US" sz="2000" dirty="0" err="1"/>
              <a:t>IaC</a:t>
            </a:r>
            <a:r>
              <a:rPr lang="en-US" sz="2000" dirty="0"/>
              <a:t>, environment variables set appropriately</a:t>
            </a:r>
          </a:p>
          <a:p>
            <a:pPr lvl="1"/>
            <a:r>
              <a:rPr lang="en-US" sz="2000" dirty="0"/>
              <a:t>To avoid certificate complexities, the demo environment uses non-TLS secured (http://) connections</a:t>
            </a:r>
            <a:br>
              <a:rPr lang="en-US" sz="2000" dirty="0"/>
            </a:br>
            <a:r>
              <a:rPr lang="en-US" sz="2000" dirty="0"/>
              <a:t>(this will be changed for production)</a:t>
            </a:r>
          </a:p>
          <a:p>
            <a:pPr lvl="1"/>
            <a:r>
              <a:rPr lang="en-US" sz="2000" dirty="0"/>
              <a:t>API exposes endpoints to:</a:t>
            </a:r>
          </a:p>
          <a:p>
            <a:pPr lvl="2"/>
            <a:r>
              <a:rPr lang="en-US" sz="2000" dirty="0"/>
              <a:t>Query database for version</a:t>
            </a:r>
          </a:p>
          <a:p>
            <a:pPr lvl="2"/>
            <a:r>
              <a:rPr lang="en-US" sz="2000" dirty="0"/>
              <a:t>Return client source IP</a:t>
            </a:r>
          </a:p>
          <a:p>
            <a:pPr lvl="2"/>
            <a:r>
              <a:rPr lang="en-US" sz="2000" dirty="0"/>
              <a:t>Write client access events with source IP and timestamp to a table</a:t>
            </a:r>
          </a:p>
          <a:p>
            <a:pPr marL="0" lvl="1" indent="0">
              <a:buNone/>
            </a:pPr>
            <a:r>
              <a:rPr lang="en-US" sz="2000" u="sng" dirty="0"/>
              <a:t>Database</a:t>
            </a:r>
          </a:p>
          <a:p>
            <a:pPr marL="285750" lvl="1"/>
            <a:r>
              <a:rPr lang="en-US" sz="2000" dirty="0"/>
              <a:t>Empty / default PostgreSQL deployment, no data loaded</a:t>
            </a:r>
          </a:p>
          <a:p>
            <a:pPr marL="0" lvl="1" indent="0">
              <a:buNone/>
            </a:pPr>
            <a:endParaRPr lang="en-US" sz="1600" dirty="0"/>
          </a:p>
          <a:p>
            <a:pPr marL="285750" lvl="1"/>
            <a:endParaRPr lang="en-US" sz="16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F34208-E324-8C02-D13D-AB72E945B7C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8970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87E7B-D3A8-17F7-A8B9-0A04E0108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746FE-6A4E-D6C5-B2D0-068BE384E4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1438" y="506895"/>
            <a:ext cx="9953625" cy="660262"/>
          </a:xfrm>
        </p:spPr>
        <p:txBody>
          <a:bodyPr/>
          <a:lstStyle/>
          <a:p>
            <a:r>
              <a:rPr lang="en-US" dirty="0"/>
              <a:t>test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855E2E-9EDB-6E19-A737-906AC26190D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1341437" y="1224556"/>
            <a:ext cx="10170377" cy="5126549"/>
          </a:xfrm>
        </p:spPr>
        <p:txBody>
          <a:bodyPr>
            <a:normAutofit fontScale="47500" lnSpcReduction="20000"/>
          </a:bodyPr>
          <a:lstStyle/>
          <a:p>
            <a:pPr marL="0" lvl="1" indent="0">
              <a:buNone/>
            </a:pPr>
            <a:r>
              <a:rPr lang="en-US" sz="1700" u="sng" dirty="0">
                <a:latin typeface="Lucida Console" panose="020B0609040504020204" pitchFamily="49" charset="0"/>
              </a:rPr>
              <a:t>Database version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http://novabank.dedroog.net/api/sqlversion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</a:rPr>
              <a:t>sql_output</a:t>
            </a:r>
            <a:r>
              <a:rPr lang="en-US" sz="1700" dirty="0">
                <a:latin typeface="Lucida Console" panose="020B0609040504020204" pitchFamily="49" charset="0"/>
              </a:rPr>
              <a:t>": "PostgreSQL 16.15 on x86_64-pc-linux-gnu, compiled by </a:t>
            </a:r>
            <a:r>
              <a:rPr lang="en-US" sz="1700" dirty="0" err="1">
                <a:latin typeface="Lucida Console" panose="020B0609040504020204" pitchFamily="49" charset="0"/>
              </a:rPr>
              <a:t>gcc</a:t>
            </a:r>
            <a:r>
              <a:rPr lang="en-US" sz="1700" dirty="0">
                <a:latin typeface="Lucida Console" panose="020B0609040504020204" pitchFamily="49" charset="0"/>
              </a:rPr>
              <a:t> (GCC) 13.2.0, 64-bit"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}</a:t>
            </a:r>
          </a:p>
          <a:p>
            <a:r>
              <a:rPr lang="en-US" sz="1700" u="sng" dirty="0">
                <a:latin typeface="Lucida Console" panose="020B0609040504020204" pitchFamily="49" charset="0"/>
              </a:rPr>
              <a:t>Client IP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http://novabank.dedroog.net/api/sqlsrcip</a:t>
            </a:r>
          </a:p>
          <a:p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  <a:cs typeface="Arial" panose="020B0604020202020204" pitchFamily="34" charset="0"/>
              </a:rPr>
              <a:t>sql_output</a:t>
            </a:r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": "10.0.2.254"</a:t>
            </a:r>
          </a:p>
          <a:p>
            <a:r>
              <a:rPr lang="en-US" sz="1700" dirty="0">
                <a:latin typeface="Lucida Console" panose="020B0609040504020204" pitchFamily="49" charset="0"/>
                <a:cs typeface="Arial" panose="020B0604020202020204" pitchFamily="34" charset="0"/>
              </a:rPr>
              <a:t>}</a:t>
            </a:r>
          </a:p>
          <a:p>
            <a:pPr marL="0" lvl="1" indent="0">
              <a:buNone/>
            </a:pPr>
            <a:r>
              <a:rPr lang="en-US" sz="1700" u="sng" dirty="0">
                <a:latin typeface="Lucida Console" panose="020B0609040504020204" pitchFamily="49" charset="0"/>
              </a:rPr>
              <a:t>Create table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http://novabank.dedroog.net//api/sqlsrcipinit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</a:rPr>
              <a:t>table_created</a:t>
            </a:r>
            <a:r>
              <a:rPr lang="en-US" sz="1700" dirty="0">
                <a:latin typeface="Lucida Console" panose="020B0609040504020204" pitchFamily="49" charset="0"/>
              </a:rPr>
              <a:t>": "</a:t>
            </a:r>
            <a:r>
              <a:rPr lang="en-US" sz="1700" dirty="0" err="1">
                <a:latin typeface="Lucida Console" panose="020B0609040504020204" pitchFamily="49" charset="0"/>
              </a:rPr>
              <a:t>srciplog</a:t>
            </a:r>
            <a:r>
              <a:rPr lang="en-US" sz="1700" dirty="0">
                <a:latin typeface="Lucida Console" panose="020B0609040504020204" pitchFamily="49" charset="0"/>
              </a:rPr>
              <a:t>"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}</a:t>
            </a:r>
          </a:p>
          <a:p>
            <a:r>
              <a:rPr lang="en-US" sz="1700" u="sng" dirty="0">
                <a:latin typeface="Lucida Console" panose="020B0609040504020204" pitchFamily="49" charset="0"/>
              </a:rPr>
              <a:t>Log access</a:t>
            </a:r>
          </a:p>
          <a:p>
            <a:pPr marL="0" lvl="1" indent="0">
              <a:buNone/>
            </a:pPr>
            <a:r>
              <a:rPr lang="en-US" sz="1700" dirty="0">
                <a:latin typeface="Lucida Console" panose="020B0609040504020204" pitchFamily="49" charset="0"/>
              </a:rPr>
              <a:t>http://novabank.dedroog.net//api/sqlsrciplog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"</a:t>
            </a:r>
            <a:r>
              <a:rPr lang="en-US" sz="1700" dirty="0" err="1">
                <a:latin typeface="Lucida Console" panose="020B0609040504020204" pitchFamily="49" charset="0"/>
              </a:rPr>
              <a:t>srciplog</a:t>
            </a:r>
            <a:r>
              <a:rPr lang="en-US" sz="1700" dirty="0">
                <a:latin typeface="Lucida Console" panose="020B0609040504020204" pitchFamily="49" charset="0"/>
              </a:rPr>
              <a:t>": {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  "</a:t>
            </a:r>
            <a:r>
              <a:rPr lang="en-US" sz="1700" dirty="0" err="1">
                <a:latin typeface="Lucida Console" panose="020B0609040504020204" pitchFamily="49" charset="0"/>
              </a:rPr>
              <a:t>ip</a:t>
            </a:r>
            <a:r>
              <a:rPr lang="en-US" sz="1700" dirty="0">
                <a:latin typeface="Lucida Console" panose="020B0609040504020204" pitchFamily="49" charset="0"/>
              </a:rPr>
              <a:t>": "10.0.2.254",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  "timestamp": "2026-10-07 16:12:45.271077"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  }</a:t>
            </a:r>
          </a:p>
          <a:p>
            <a:r>
              <a:rPr lang="en-US" sz="1700" dirty="0">
                <a:latin typeface="Lucida Console" panose="020B0609040504020204" pitchFamily="49" charset="0"/>
              </a:rPr>
              <a:t>}</a:t>
            </a:r>
          </a:p>
          <a:p>
            <a:pPr marL="0" lvl="1" indent="0">
              <a:buNone/>
            </a:pPr>
            <a:endParaRPr lang="en-US" sz="1600" dirty="0"/>
          </a:p>
          <a:p>
            <a:pPr marL="285750" lvl="1"/>
            <a:endParaRPr lang="en-US" sz="1600" dirty="0"/>
          </a:p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F5A11B-6355-0387-AB61-2505D71B585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9050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0" y="1615736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64C29E-DF30-4DC6-AB95-2016F9A703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367567"/>
          </a:xfrm>
        </p:spPr>
        <p:txBody>
          <a:bodyPr>
            <a:noAutofit/>
          </a:bodyPr>
          <a:lstStyle/>
          <a:p>
            <a:r>
              <a:rPr lang="en-US" dirty="0"/>
              <a:t>Marc de Droog</a:t>
            </a:r>
          </a:p>
          <a:p>
            <a:r>
              <a:rPr lang="en-US" dirty="0"/>
              <a:t>+31 6 55 29 00 07</a:t>
            </a:r>
          </a:p>
          <a:p>
            <a:r>
              <a:rPr lang="en-US" dirty="0"/>
              <a:t>marcdedroog@quicknet.nl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127D99-645F-4FCF-9573-FDFE2A344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openxmlformats.org/package/2006/metadata/core-properties"/>
    <ds:schemaRef ds:uri="http://purl.org/dc/terms/"/>
    <ds:schemaRef ds:uri="http://purl.org/dc/elements/1.1/"/>
    <ds:schemaRef ds:uri="230e9df3-be65-4c73-a93b-d1236ebd677e"/>
    <ds:schemaRef ds:uri="16c05727-aa75-4e4a-9b5f-8a80a1165891"/>
    <ds:schemaRef ds:uri="71af3243-3dd4-4a8d-8c0d-dd76da1f02a5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252</TotalTime>
  <Words>776</Words>
  <Application>Microsoft Office PowerPoint</Application>
  <PresentationFormat>Widescreen</PresentationFormat>
  <Paragraphs>120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Lucida Console</vt:lpstr>
      <vt:lpstr>Tenorite</vt:lpstr>
      <vt:lpstr>Custom</vt:lpstr>
      <vt:lpstr>Novabank web api  cloud modernization proof of concept </vt:lpstr>
      <vt:lpstr>Context and requirements</vt:lpstr>
      <vt:lpstr>Current state assessment</vt:lpstr>
      <vt:lpstr>Target architecture (1) </vt:lpstr>
      <vt:lpstr>Target architecture (2) </vt:lpstr>
      <vt:lpstr>PowerPoint Presentation</vt:lpstr>
      <vt:lpstr>PowerPoint Presentation</vt:lpstr>
      <vt:lpstr>PowerPoint Presentation</vt:lpstr>
      <vt:lpstr>development</vt:lpstr>
      <vt:lpstr>Practical AI</vt:lpstr>
      <vt:lpstr>Demo deployment</vt:lpstr>
      <vt:lpstr>test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de Droog</dc:creator>
  <cp:lastModifiedBy>Marc de Droog</cp:lastModifiedBy>
  <cp:revision>1</cp:revision>
  <dcterms:created xsi:type="dcterms:W3CDTF">2026-10-07T12:23:01Z</dcterms:created>
  <dcterms:modified xsi:type="dcterms:W3CDTF">2026-10-07T16:39:58Z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