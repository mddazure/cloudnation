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1" r:id="rId6"/>
    <p:sldId id="279" r:id="rId7"/>
    <p:sldId id="280" r:id="rId8"/>
    <p:sldId id="286" r:id="rId9"/>
    <p:sldId id="282" r:id="rId10"/>
    <p:sldId id="283" r:id="rId11"/>
    <p:sldId id="288" r:id="rId12"/>
    <p:sldId id="284" r:id="rId13"/>
    <p:sldId id="287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9AD6F-ACAE-4D67-8DDA-D98C7612B477}" v="49" dt="2026-10-07T16:33:59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282" y="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de Droog" userId="3ea1787d3693c09c" providerId="LiveId" clId="{20620065-C08F-41CF-B954-B8DD4409FD95}"/>
    <pc:docChg chg="addSld delSld modSld sldOrd">
      <pc:chgData name="Marc de Droog" userId="3ea1787d3693c09c" providerId="LiveId" clId="{20620065-C08F-41CF-B954-B8DD4409FD95}" dt="2026-10-07T16:31:39.426" v="43"/>
      <pc:docMkLst>
        <pc:docMk/>
      </pc:docMkLst>
      <pc:sldChg chg="modSp">
        <pc:chgData name="Marc de Droog" userId="3ea1787d3693c09c" providerId="LiveId" clId="{20620065-C08F-41CF-B954-B8DD4409FD95}" dt="2026-10-07T12:27:45.365" v="0"/>
        <pc:sldMkLst>
          <pc:docMk/>
          <pc:sldMk cId="608796113" sldId="278"/>
        </pc:sldMkLst>
        <pc:spChg chg="mod">
          <ac:chgData name="Marc de Droog" userId="3ea1787d3693c09c" providerId="LiveId" clId="{20620065-C08F-41CF-B954-B8DD4409FD95}" dt="2026-10-07T12:27:45.365" v="0"/>
          <ac:spMkLst>
            <pc:docMk/>
            <pc:sldMk cId="608796113" sldId="278"/>
            <ac:spMk id="2" creationId="{9528DBD1-DB29-D44F-FD5A-3071BB37EF37}"/>
          </ac:spMkLst>
        </pc:spChg>
      </pc:sldChg>
      <pc:sldChg chg="modSp">
        <pc:chgData name="Marc de Droog" userId="3ea1787d3693c09c" providerId="LiveId" clId="{20620065-C08F-41CF-B954-B8DD4409FD95}" dt="2026-10-07T12:30:49.766" v="1"/>
        <pc:sldMkLst>
          <pc:docMk/>
          <pc:sldMk cId="4293325151" sldId="279"/>
        </pc:sldMkLst>
        <pc:spChg chg="mod">
          <ac:chgData name="Marc de Droog" userId="3ea1787d3693c09c" providerId="LiveId" clId="{20620065-C08F-41CF-B954-B8DD4409FD95}" dt="2026-10-07T12:30:49.766" v="1"/>
          <ac:spMkLst>
            <pc:docMk/>
            <pc:sldMk cId="4293325151" sldId="279"/>
            <ac:spMk id="2" creationId="{2CE886B3-FE05-7BD7-2889-BD514FC74066}"/>
          </ac:spMkLst>
        </pc:spChg>
      </pc:sldChg>
      <pc:sldChg chg="addSp modSp add ord">
        <pc:chgData name="Marc de Droog" userId="3ea1787d3693c09c" providerId="LiveId" clId="{20620065-C08F-41CF-B954-B8DD4409FD95}" dt="2026-10-07T12:56:58.747" v="5"/>
        <pc:sldMkLst>
          <pc:docMk/>
          <pc:sldMk cId="1740153309" sldId="281"/>
        </pc:sldMkLst>
        <pc:spChg chg="mod">
          <ac:chgData name="Marc de Droog" userId="3ea1787d3693c09c" providerId="LiveId" clId="{20620065-C08F-41CF-B954-B8DD4409FD95}" dt="2026-10-07T12:54:24.699" v="3"/>
          <ac:spMkLst>
            <pc:docMk/>
            <pc:sldMk cId="1740153309" sldId="281"/>
            <ac:spMk id="11" creationId="{3D529E1D-BFC4-4ACB-9702-B98DC39DA4AE}"/>
          </ac:spMkLst>
        </pc:spChg>
        <pc:spChg chg="add mod">
          <ac:chgData name="Marc de Droog" userId="3ea1787d3693c09c" providerId="LiveId" clId="{20620065-C08F-41CF-B954-B8DD4409FD95}" dt="2026-10-07T12:56:58.747" v="5"/>
          <ac:spMkLst>
            <pc:docMk/>
            <pc:sldMk cId="1740153309" sldId="281"/>
            <ac:spMk id="22" creationId="{CE540301-ECDE-63B8-F528-B6E0A952FC6C}"/>
          </ac:spMkLst>
        </pc:spChg>
        <pc:spChg chg="add mod">
          <ac:chgData name="Marc de Droog" userId="3ea1787d3693c09c" providerId="LiveId" clId="{20620065-C08F-41CF-B954-B8DD4409FD95}" dt="2026-10-07T12:56:58.747" v="5"/>
          <ac:spMkLst>
            <pc:docMk/>
            <pc:sldMk cId="1740153309" sldId="281"/>
            <ac:spMk id="23" creationId="{2D21117B-EF7B-A567-8832-15C3BAEFC833}"/>
          </ac:spMkLst>
        </pc:spChg>
      </pc:sldChg>
      <pc:sldChg chg="modAnim">
        <pc:chgData name="Marc de Droog" userId="3ea1787d3693c09c" providerId="LiveId" clId="{20620065-C08F-41CF-B954-B8DD4409FD95}" dt="2026-10-07T16:06:07.223" v="34"/>
        <pc:sldMkLst>
          <pc:docMk/>
          <pc:sldMk cId="1030026327" sldId="282"/>
        </pc:sldMkLst>
      </pc:sldChg>
      <pc:sldChg chg="modSp add">
        <pc:chgData name="Marc de Droog" userId="3ea1787d3693c09c" providerId="LiveId" clId="{20620065-C08F-41CF-B954-B8DD4409FD95}" dt="2026-10-07T15:35:02.965" v="8"/>
        <pc:sldMkLst>
          <pc:docMk/>
          <pc:sldMk cId="1400367988" sldId="283"/>
        </pc:sldMkLst>
        <pc:spChg chg="mod">
          <ac:chgData name="Marc de Droog" userId="3ea1787d3693c09c" providerId="LiveId" clId="{20620065-C08F-41CF-B954-B8DD4409FD95}" dt="2026-10-07T15:35:02.965" v="8"/>
          <ac:spMkLst>
            <pc:docMk/>
            <pc:sldMk cId="1400367988" sldId="283"/>
            <ac:spMk id="6" creationId="{930B1B1C-759D-9AF0-EBAD-C7E4CD189027}"/>
          </ac:spMkLst>
        </pc:spChg>
      </pc:sldChg>
      <pc:sldChg chg="modSp add">
        <pc:chgData name="Marc de Droog" userId="3ea1787d3693c09c" providerId="LiveId" clId="{20620065-C08F-41CF-B954-B8DD4409FD95}" dt="2026-10-07T16:09:00.465" v="38"/>
        <pc:sldMkLst>
          <pc:docMk/>
          <pc:sldMk cId="2018970457" sldId="284"/>
        </pc:sldMkLst>
        <pc:spChg chg="mod">
          <ac:chgData name="Marc de Droog" userId="3ea1787d3693c09c" providerId="LiveId" clId="{20620065-C08F-41CF-B954-B8DD4409FD95}" dt="2026-10-07T16:09:00.465" v="38"/>
          <ac:spMkLst>
            <pc:docMk/>
            <pc:sldMk cId="2018970457" sldId="284"/>
            <ac:spMk id="6" creationId="{11B7893D-8A22-EA01-6F2D-54F7D7593EF2}"/>
          </ac:spMkLst>
        </pc:spChg>
      </pc:sldChg>
      <pc:sldChg chg="add">
        <pc:chgData name="Marc de Droog" userId="3ea1787d3693c09c" providerId="LiveId" clId="{20620065-C08F-41CF-B954-B8DD4409FD95}" dt="2026-10-07T15:56:04.465" v="19"/>
        <pc:sldMkLst>
          <pc:docMk/>
          <pc:sldMk cId="406916842" sldId="285"/>
        </pc:sldMkLst>
      </pc:sldChg>
      <pc:sldChg chg="add del">
        <pc:chgData name="Marc de Droog" userId="3ea1787d3693c09c" providerId="LiveId" clId="{20620065-C08F-41CF-B954-B8DD4409FD95}" dt="2026-10-07T15:55:54.165" v="18"/>
        <pc:sldMkLst>
          <pc:docMk/>
          <pc:sldMk cId="1211760635" sldId="285"/>
        </pc:sldMkLst>
      </pc:sldChg>
      <pc:sldChg chg="add">
        <pc:chgData name="Marc de Droog" userId="3ea1787d3693c09c" providerId="LiveId" clId="{20620065-C08F-41CF-B954-B8DD4409FD95}" dt="2026-10-07T15:56:35.871" v="20"/>
        <pc:sldMkLst>
          <pc:docMk/>
          <pc:sldMk cId="804405547" sldId="286"/>
        </pc:sldMkLst>
      </pc:sldChg>
      <pc:sldChg chg="modSp add">
        <pc:chgData name="Marc de Droog" userId="3ea1787d3693c09c" providerId="LiveId" clId="{20620065-C08F-41CF-B954-B8DD4409FD95}" dt="2026-10-07T16:13:00.148" v="42"/>
        <pc:sldMkLst>
          <pc:docMk/>
          <pc:sldMk cId="2440905073" sldId="287"/>
        </pc:sldMkLst>
        <pc:spChg chg="mod">
          <ac:chgData name="Marc de Droog" userId="3ea1787d3693c09c" providerId="LiveId" clId="{20620065-C08F-41CF-B954-B8DD4409FD95}" dt="2026-10-07T16:13:00.148" v="42"/>
          <ac:spMkLst>
            <pc:docMk/>
            <pc:sldMk cId="2440905073" sldId="287"/>
            <ac:spMk id="6" creationId="{25855E2E-9EDB-6E19-A737-906AC26190D0}"/>
          </ac:spMkLst>
        </pc:spChg>
      </pc:sldChg>
      <pc:sldChg chg="add del">
        <pc:chgData name="Marc de Droog" userId="3ea1787d3693c09c" providerId="LiveId" clId="{20620065-C08F-41CF-B954-B8DD4409FD95}" dt="2026-10-07T16:08:05.890" v="36"/>
        <pc:sldMkLst>
          <pc:docMk/>
          <pc:sldMk cId="2600672683" sldId="287"/>
        </pc:sldMkLst>
      </pc:sldChg>
      <pc:sldChg chg="add">
        <pc:chgData name="Marc de Droog" userId="3ea1787d3693c09c" providerId="LiveId" clId="{20620065-C08F-41CF-B954-B8DD4409FD95}" dt="2026-10-07T16:31:39.426" v="43"/>
        <pc:sldMkLst>
          <pc:docMk/>
          <pc:sldMk cId="4123477654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YADA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801" y="487018"/>
            <a:ext cx="5959642" cy="3377354"/>
          </a:xfrm>
        </p:spPr>
        <p:txBody>
          <a:bodyPr/>
          <a:lstStyle/>
          <a:p>
            <a:r>
              <a:rPr lang="en-US" dirty="0" err="1"/>
              <a:t>Novabank</a:t>
            </a:r>
            <a:r>
              <a:rPr lang="en-US" dirty="0"/>
              <a:t> web </a:t>
            </a:r>
            <a:r>
              <a:rPr lang="en-US" dirty="0" err="1"/>
              <a:t>api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cloud modernization</a:t>
            </a:r>
            <a:br>
              <a:rPr lang="en-US" dirty="0"/>
            </a:br>
            <a:r>
              <a:rPr lang="en-US" dirty="0"/>
              <a:t>proof of concept 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C3A8-6D0F-341D-FEC7-2570227A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1CA0-C65E-B0D8-E539-89BA2C7A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705676"/>
            <a:ext cx="9953308" cy="560557"/>
          </a:xfrm>
        </p:spPr>
        <p:txBody>
          <a:bodyPr/>
          <a:lstStyle/>
          <a:p>
            <a:r>
              <a:rPr lang="en-US" dirty="0"/>
              <a:t>Context and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D330B-B2CD-695F-498F-42DB660ACC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CE540301-ECDE-63B8-F528-B6E0A952F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5216" y="1850412"/>
            <a:ext cx="9637643" cy="75364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Novabank</a:t>
            </a:r>
            <a:r>
              <a:rPr lang="en-US" sz="2400" dirty="0"/>
              <a:t> wants to evaluate public cloud.</a:t>
            </a:r>
            <a:br>
              <a:rPr lang="en-US" sz="2400" dirty="0"/>
            </a:br>
            <a:r>
              <a:rPr lang="en-US" sz="2400" dirty="0"/>
              <a:t>They have asked </a:t>
            </a:r>
            <a:r>
              <a:rPr lang="en-US" sz="2400" dirty="0" err="1"/>
              <a:t>CloudNation</a:t>
            </a:r>
            <a:r>
              <a:rPr lang="en-US" sz="2400" dirty="0"/>
              <a:t> to develop a  proof of concept to migrate and modernize a Web API </a:t>
            </a:r>
          </a:p>
          <a:p>
            <a:endParaRPr lang="en-US" sz="2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D21117B-EF7B-A567-8832-15C3BAEFC833}"/>
              </a:ext>
            </a:extLst>
          </p:cNvPr>
          <p:cNvSpPr txBox="1">
            <a:spLocks/>
          </p:cNvSpPr>
          <p:nvPr/>
        </p:nvSpPr>
        <p:spPr>
          <a:xfrm>
            <a:off x="1315275" y="2985396"/>
            <a:ext cx="10263812" cy="3032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Requirements</a:t>
            </a:r>
          </a:p>
          <a:p>
            <a:pPr lvl="1"/>
            <a:r>
              <a:rPr lang="en-US" dirty="0"/>
              <a:t>Financial Services: regulated, EU data residency requirement applies </a:t>
            </a:r>
          </a:p>
          <a:p>
            <a:pPr lvl="1"/>
            <a:r>
              <a:rPr lang="en-US" dirty="0"/>
              <a:t>Explicit availability target: 99.90%</a:t>
            </a:r>
          </a:p>
          <a:p>
            <a:pPr lvl="1"/>
            <a:r>
              <a:rPr lang="en-US" dirty="0"/>
              <a:t>Disaster Recovery targets: RPO 1 </a:t>
            </a:r>
            <a:r>
              <a:rPr lang="en-US" dirty="0" err="1"/>
              <a:t>hr</a:t>
            </a:r>
            <a:r>
              <a:rPr lang="en-US" dirty="0"/>
              <a:t>, RTO 4 </a:t>
            </a:r>
            <a:r>
              <a:rPr lang="en-US" dirty="0" err="1"/>
              <a:t>hrs</a:t>
            </a:r>
            <a:endParaRPr lang="en-US" dirty="0"/>
          </a:p>
          <a:p>
            <a:pPr lvl="1"/>
            <a:r>
              <a:rPr lang="en-US" dirty="0"/>
              <a:t>Auditability: store and retain logs centrally for a defined term, control and restrict access</a:t>
            </a:r>
          </a:p>
        </p:txBody>
      </p:sp>
    </p:spTree>
    <p:extLst>
      <p:ext uri="{BB962C8B-B14F-4D97-AF65-F5344CB8AC3E}">
        <p14:creationId xmlns:p14="http://schemas.microsoft.com/office/powerpoint/2010/main" val="174015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86B3-FE05-7BD7-2889-BD514FC7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19F78-E974-3607-C1BF-ED31D27B8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Web API hosted in on-premise data center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Single VM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PostgreSQL database – assumed on a single VM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Single environment – no separate dev/test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No stated, evaluated availability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Logs kept locally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3CAAA-F7D2-DF61-5B09-655D73BD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2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7D22-B792-3FEC-C829-10E6ED98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Target architecture (1)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4C179-39BD-C501-2EB4-D35024317B3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265696"/>
          </a:xfrm>
        </p:spPr>
        <p:txBody>
          <a:bodyPr>
            <a:normAutofit/>
          </a:bodyPr>
          <a:lstStyle/>
          <a:p>
            <a:r>
              <a:rPr lang="en-US" sz="2400" u="sng" dirty="0"/>
              <a:t>Cloud platform – Azure</a:t>
            </a:r>
          </a:p>
          <a:p>
            <a:pPr lvl="1"/>
            <a:r>
              <a:rPr lang="en-US" sz="2400" dirty="0"/>
              <a:t>Driven by skills available in the project team</a:t>
            </a:r>
          </a:p>
          <a:p>
            <a:pPr lvl="1"/>
            <a:r>
              <a:rPr lang="en-US" sz="2400" dirty="0"/>
              <a:t>Deployment to Azure meets stated requirements</a:t>
            </a:r>
          </a:p>
          <a:p>
            <a:pPr lvl="1"/>
            <a:r>
              <a:rPr lang="en-US" sz="2400" dirty="0"/>
              <a:t>Other cloud platforms may be evaluated later</a:t>
            </a:r>
          </a:p>
          <a:p>
            <a:pPr marL="0" lvl="1" indent="0">
              <a:buNone/>
            </a:pPr>
            <a:r>
              <a:rPr lang="en-US" sz="2400" u="sng" dirty="0"/>
              <a:t>Prefer Platform Services (PaaS) over Infrastructure (IaaS)</a:t>
            </a:r>
          </a:p>
          <a:p>
            <a:pPr marL="285750" lvl="1"/>
            <a:r>
              <a:rPr lang="en-US" sz="2400" dirty="0"/>
              <a:t>Azure App Service and PostgreSQL Flexible Server</a:t>
            </a:r>
          </a:p>
          <a:p>
            <a:pPr marL="285750" lvl="1"/>
            <a:r>
              <a:rPr lang="en-US" sz="2400" dirty="0"/>
              <a:t>Reduce operational overhead, improve security posture, built-in high availability features</a:t>
            </a:r>
          </a:p>
          <a:p>
            <a:pPr marL="285750" lvl="1"/>
            <a:r>
              <a:rPr lang="en-US" sz="2400" dirty="0"/>
              <a:t>PostgreSQL server is VNET injected, it has no public endpoint</a:t>
            </a:r>
          </a:p>
          <a:p>
            <a:pPr marL="285750" lvl="1"/>
            <a:r>
              <a:rPr lang="en-US" sz="2400" dirty="0"/>
              <a:t>Web App connects to database privately through VNET Integration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6CCBF-942A-6917-D2D2-77C9D85B3B3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31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3792-3AFF-B257-4630-743081B5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47DF-AC40-8C92-F418-61FF61A9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Target architecture (2)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4C536-14F7-4890-67F3-293EE50E67A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265696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sz="2400" u="sng" dirty="0"/>
              <a:t>Primary – Disaster Recovery</a:t>
            </a:r>
          </a:p>
          <a:p>
            <a:pPr marL="285750" lvl="1"/>
            <a:r>
              <a:rPr lang="en-US" sz="2400" dirty="0"/>
              <a:t>Primary: West Europe, DR: North Europe</a:t>
            </a:r>
          </a:p>
          <a:p>
            <a:pPr marL="285750" lvl="1"/>
            <a:r>
              <a:rPr lang="en-US" sz="2400" dirty="0"/>
              <a:t>DR is only deployed when Primary fails – no running costs when not needed</a:t>
            </a:r>
          </a:p>
          <a:p>
            <a:pPr marL="285750" lvl="1"/>
            <a:r>
              <a:rPr lang="en-US" sz="2400" dirty="0"/>
              <a:t>PostgreSQL database configured for Geo Redundant backup</a:t>
            </a:r>
          </a:p>
          <a:p>
            <a:pPr marL="569214" lvl="2"/>
            <a:r>
              <a:rPr lang="en-US" sz="2400" dirty="0"/>
              <a:t>Data is copied asynchronously to North Europe, restored in DR</a:t>
            </a:r>
          </a:p>
          <a:p>
            <a:pPr marL="569214" lvl="2"/>
            <a:r>
              <a:rPr lang="en-US" sz="2400" dirty="0"/>
              <a:t>Database is restored in North Europe from copy when needed</a:t>
            </a:r>
          </a:p>
          <a:p>
            <a:pPr marL="0" lvl="1" indent="0">
              <a:buNone/>
            </a:pPr>
            <a:r>
              <a:rPr lang="en-US" sz="2400" u="sng" dirty="0"/>
              <a:t>Logging</a:t>
            </a:r>
          </a:p>
          <a:p>
            <a:pPr marL="342900" lvl="1" indent="-342900"/>
            <a:r>
              <a:rPr lang="en-US" sz="2400" dirty="0"/>
              <a:t>Logs sent to </a:t>
            </a:r>
            <a:r>
              <a:rPr lang="en-US" sz="2400" dirty="0" err="1"/>
              <a:t>LogAnalytics</a:t>
            </a:r>
            <a:r>
              <a:rPr lang="en-US" sz="2400" dirty="0"/>
              <a:t> Workspaces for each environment</a:t>
            </a:r>
          </a:p>
          <a:p>
            <a:pPr marL="342900" lvl="1" indent="-342900"/>
            <a:r>
              <a:rPr lang="en-US" sz="2400" dirty="0"/>
              <a:t>Retention set to 2 years</a:t>
            </a:r>
          </a:p>
          <a:p>
            <a:pPr marL="342900" lvl="1" indent="-342900"/>
            <a:r>
              <a:rPr lang="en-US" sz="2400" dirty="0"/>
              <a:t>Access to log content restricted to members of specific Entra Security Group with </a:t>
            </a:r>
          </a:p>
          <a:p>
            <a:pPr marL="342900" lvl="1" indent="-342900"/>
            <a:endParaRPr lang="en-US" sz="24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4D517-EBB6-FAA7-C2DA-B85D34EB34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40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4E82-E66E-5C66-B8F3-71047AFD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133CE-0D6D-8932-0A36-20116CC8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93" y="0"/>
            <a:ext cx="822841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807597-5FEF-B45E-C0A3-0E21ACA3E6EB}"/>
              </a:ext>
            </a:extLst>
          </p:cNvPr>
          <p:cNvSpPr/>
          <p:nvPr/>
        </p:nvSpPr>
        <p:spPr>
          <a:xfrm>
            <a:off x="6401001" y="240632"/>
            <a:ext cx="3953299" cy="5621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2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89 2.59259E-6 L -0.33789 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90D6-C13C-7964-6812-AE917390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CD8D-A71F-03FF-5F3A-E3BC98BA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development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B1B1C-759D-9AF0-EBAD-C7E4CD18902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315392"/>
          </a:xfrm>
        </p:spPr>
        <p:txBody>
          <a:bodyPr>
            <a:normAutofit/>
          </a:bodyPr>
          <a:lstStyle/>
          <a:p>
            <a:r>
              <a:rPr lang="en-US" u="sng" dirty="0"/>
              <a:t>Infrastructure as Code</a:t>
            </a:r>
          </a:p>
          <a:p>
            <a:pPr lvl="1"/>
            <a:r>
              <a:rPr lang="en-US" sz="1600" dirty="0"/>
              <a:t>Bicep – leveraging Azure Verified Modules where possible</a:t>
            </a:r>
          </a:p>
          <a:p>
            <a:pPr lvl="1"/>
            <a:r>
              <a:rPr lang="en-US" sz="1600" dirty="0"/>
              <a:t>Single code base, parameterized for primary, dr and dev deployments </a:t>
            </a:r>
          </a:p>
          <a:p>
            <a:pPr lvl="2"/>
            <a:r>
              <a:rPr lang="en-US" sz="1600" dirty="0" err="1"/>
              <a:t>deploymentMode</a:t>
            </a:r>
            <a:r>
              <a:rPr lang="en-US" sz="1600" dirty="0"/>
              <a:t> = primary | dr</a:t>
            </a:r>
          </a:p>
          <a:p>
            <a:pPr lvl="2"/>
            <a:r>
              <a:rPr lang="en-US" sz="1600" dirty="0" err="1"/>
              <a:t>environmentMode</a:t>
            </a:r>
            <a:r>
              <a:rPr lang="en-US" sz="1600" dirty="0"/>
              <a:t> = prod | dev</a:t>
            </a:r>
          </a:p>
          <a:p>
            <a:pPr lvl="1"/>
            <a:r>
              <a:rPr lang="en-US" sz="1600" dirty="0"/>
              <a:t>No secrets in code or parameter files, password passed in from environment variable</a:t>
            </a:r>
          </a:p>
          <a:p>
            <a:pPr marL="0" lvl="1" indent="0">
              <a:buNone/>
            </a:pPr>
            <a:r>
              <a:rPr lang="en-US" u="sng" dirty="0"/>
              <a:t>No DNS reconfiguration in disaster situation</a:t>
            </a:r>
          </a:p>
          <a:p>
            <a:pPr marL="285750" lvl="1"/>
            <a:r>
              <a:rPr lang="en-US" sz="1600" dirty="0"/>
              <a:t>Single, constant FQDN: Traffic Manager automatically routes traffic to live Web App</a:t>
            </a:r>
          </a:p>
          <a:p>
            <a:pPr marL="0" lvl="1" indent="0">
              <a:buNone/>
            </a:pPr>
            <a:r>
              <a:rPr lang="en-US" u="sng" dirty="0"/>
              <a:t>Primary – Disaster Recovery</a:t>
            </a:r>
          </a:p>
          <a:p>
            <a:pPr marL="285750" lvl="1"/>
            <a:r>
              <a:rPr lang="en-US" sz="1600" dirty="0"/>
              <a:t>In disaster, just redeploy </a:t>
            </a:r>
            <a:r>
              <a:rPr lang="en-US" sz="1600" dirty="0" err="1"/>
              <a:t>main.bicep</a:t>
            </a:r>
            <a:r>
              <a:rPr lang="en-US" sz="1600" dirty="0"/>
              <a:t> with </a:t>
            </a:r>
            <a:r>
              <a:rPr lang="en-US" sz="1600" dirty="0" err="1"/>
              <a:t>deploymentMode</a:t>
            </a:r>
            <a:r>
              <a:rPr lang="en-US" sz="1600" dirty="0"/>
              <a:t> set to dr, no other actions needed</a:t>
            </a:r>
          </a:p>
          <a:p>
            <a:pPr marL="285750" lvl="1"/>
            <a:r>
              <a:rPr lang="en-US" sz="1600" dirty="0"/>
              <a:t>Database is automatically restored from copy</a:t>
            </a:r>
          </a:p>
          <a:p>
            <a:pPr marL="0" lvl="1" indent="0">
              <a:buNone/>
            </a:pPr>
            <a:r>
              <a:rPr lang="en-US" u="sng" dirty="0"/>
              <a:t>Development environment</a:t>
            </a:r>
          </a:p>
          <a:p>
            <a:pPr marL="285750" lvl="1"/>
            <a:r>
              <a:rPr lang="en-US" sz="1600" dirty="0"/>
              <a:t>Separate deployment</a:t>
            </a:r>
          </a:p>
          <a:p>
            <a:pPr marL="285750" lvl="1"/>
            <a:r>
              <a:rPr lang="en-US" sz="1600" dirty="0"/>
              <a:t>Uses lower grade, cheaper component SKUs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A76CF-551D-D96B-4DD0-734D98124E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36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6197-698B-9E61-B421-F705E810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DCE9-5099-8863-3BBE-C3E9A7F6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Practical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D3A4D-6EE9-88F9-43B8-92B31CA67A3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265696"/>
          </a:xfrm>
        </p:spPr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US" sz="2400" u="sng" dirty="0"/>
              <a:t>AI-assisted engineering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All Bicep code was developed in </a:t>
            </a:r>
            <a:r>
              <a:rPr lang="en-US" b="1" dirty="0"/>
              <a:t>Visual Studio Code with GitHub Copilot</a:t>
            </a:r>
            <a:endParaRPr lang="en-US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Copilot accelerated code generation, refactoring, troubleshooting, and documentation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Generated code remained subject to human review, Bicep validation, deployment testing, and architectural judgement</a:t>
            </a:r>
          </a:p>
          <a:p>
            <a:pPr marL="0" lvl="1" indent="0">
              <a:buNone/>
            </a:pPr>
            <a:r>
              <a:rPr lang="en-US" sz="2400" u="sng" dirty="0"/>
              <a:t>AI-assisted operations – options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b="1" dirty="0" err="1"/>
              <a:t>IaC</a:t>
            </a:r>
            <a:r>
              <a:rPr lang="en-US" b="1" dirty="0"/>
              <a:t> review agent:</a:t>
            </a:r>
            <a:r>
              <a:rPr lang="en-US" dirty="0"/>
              <a:t> Review pull requests for security, resilience, logging, tagging, and configuration gaps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b="1" dirty="0"/>
              <a:t>Operations agent:</a:t>
            </a:r>
            <a:r>
              <a:rPr lang="en-US" dirty="0"/>
              <a:t> Correlate Azure Monitor and Log Analytics data and summarize incidents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b="1" dirty="0"/>
              <a:t>Cost agent:</a:t>
            </a:r>
            <a:r>
              <a:rPr lang="en-US" dirty="0"/>
              <a:t> Identify underused capacity and recommend rightsizing, especially for development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b="1" dirty="0"/>
              <a:t>DR assistant:</a:t>
            </a:r>
            <a:r>
              <a:rPr lang="en-US" dirty="0"/>
              <a:t> Guide operators through the recovery runbook and verify completion of each step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b="1" dirty="0"/>
              <a:t>Knowledge agent:</a:t>
            </a:r>
            <a:r>
              <a:rPr lang="en-US" dirty="0"/>
              <a:t> Answer operational questions using approved architecture documentation and runbooks</a:t>
            </a:r>
          </a:p>
          <a:p>
            <a:pPr fontAlgn="t"/>
            <a:r>
              <a:rPr lang="en-US" dirty="0"/>
              <a:t>AI supports engineers and operators, but production changes remain governed, auditable, and human-approved.</a:t>
            </a:r>
          </a:p>
          <a:p>
            <a:pPr lvl="0" fontAlgn="t"/>
            <a:endParaRPr lang="en-US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/>
            <a:endParaRPr lang="en-US" sz="24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93864-101C-7E40-096E-B1797575AE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477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D0D8-DA1C-D17A-9FEC-808E5190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2074-8433-28E2-CB9E-10D74249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Demo deployment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7893D-8A22-EA01-6F2D-54F7D7593EF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126549"/>
          </a:xfrm>
        </p:spPr>
        <p:txBody>
          <a:bodyPr>
            <a:normAutofit lnSpcReduction="10000"/>
          </a:bodyPr>
          <a:lstStyle/>
          <a:p>
            <a:r>
              <a:rPr lang="en-US" sz="2000" u="sng" dirty="0"/>
              <a:t>Web API application</a:t>
            </a:r>
          </a:p>
          <a:p>
            <a:pPr lvl="1"/>
            <a:r>
              <a:rPr lang="en-US" sz="2000" dirty="0"/>
              <a:t>API component from YADA demo app </a:t>
            </a:r>
            <a:r>
              <a:rPr lang="en-US" sz="2000" dirty="0" err="1">
                <a:hlinkClick r:id="rId2"/>
              </a:rPr>
              <a:t>microsoft</a:t>
            </a:r>
            <a:r>
              <a:rPr lang="en-US" sz="2000" dirty="0">
                <a:hlinkClick r:id="rId2"/>
              </a:rPr>
              <a:t>/YADA: Yet Another Demo App</a:t>
            </a:r>
            <a:endParaRPr lang="en-US" sz="2000" dirty="0"/>
          </a:p>
          <a:p>
            <a:pPr lvl="1"/>
            <a:r>
              <a:rPr lang="en-US" sz="2000" dirty="0"/>
              <a:t>Container image deployed to Web App by </a:t>
            </a:r>
            <a:r>
              <a:rPr lang="en-US" sz="2000" dirty="0" err="1"/>
              <a:t>IaC</a:t>
            </a:r>
            <a:r>
              <a:rPr lang="en-US" sz="2000" dirty="0"/>
              <a:t>, environment variables set appropriately</a:t>
            </a:r>
          </a:p>
          <a:p>
            <a:pPr lvl="1"/>
            <a:r>
              <a:rPr lang="en-US" sz="2000" dirty="0"/>
              <a:t>To avoid certificate complexities, the demo environment uses non-TLS secured (http://) connections</a:t>
            </a:r>
            <a:br>
              <a:rPr lang="en-US" sz="2000" dirty="0"/>
            </a:br>
            <a:r>
              <a:rPr lang="en-US" sz="2000" dirty="0"/>
              <a:t>(this will be changed for production)</a:t>
            </a:r>
          </a:p>
          <a:p>
            <a:pPr lvl="1"/>
            <a:r>
              <a:rPr lang="en-US" sz="2000" dirty="0"/>
              <a:t>API exposes endpoints to:</a:t>
            </a:r>
          </a:p>
          <a:p>
            <a:pPr lvl="2"/>
            <a:r>
              <a:rPr lang="en-US" sz="2000" dirty="0"/>
              <a:t>Query database for version</a:t>
            </a:r>
          </a:p>
          <a:p>
            <a:pPr lvl="2"/>
            <a:r>
              <a:rPr lang="en-US" sz="2000" dirty="0"/>
              <a:t>Return client source IP</a:t>
            </a:r>
          </a:p>
          <a:p>
            <a:pPr lvl="2"/>
            <a:r>
              <a:rPr lang="en-US" sz="2000" dirty="0"/>
              <a:t>Write client access events with source IP and timestamp to a table</a:t>
            </a:r>
          </a:p>
          <a:p>
            <a:pPr marL="0" lvl="1" indent="0">
              <a:buNone/>
            </a:pPr>
            <a:r>
              <a:rPr lang="en-US" sz="2000" u="sng" dirty="0"/>
              <a:t>Database</a:t>
            </a:r>
          </a:p>
          <a:p>
            <a:pPr marL="285750" lvl="1"/>
            <a:r>
              <a:rPr lang="en-US" sz="2000" dirty="0"/>
              <a:t>Empty / default PostgreSQL deployment, no data loaded</a:t>
            </a:r>
          </a:p>
          <a:p>
            <a:pPr marL="0" lvl="1" indent="0">
              <a:buNone/>
            </a:pPr>
            <a:endParaRPr lang="en-US" sz="1600" dirty="0"/>
          </a:p>
          <a:p>
            <a:pPr marL="285750" lvl="1"/>
            <a:endParaRPr lang="en-US" sz="16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34208-E324-8C02-D13D-AB72E945B7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7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7E7B-D3A8-17F7-A8B9-0A04E010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46FE-6A4E-D6C5-B2D0-068BE384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8" y="506895"/>
            <a:ext cx="9953625" cy="660262"/>
          </a:xfrm>
        </p:spPr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55E2E-9EDB-6E19-A737-906AC26190D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1437" y="1224556"/>
            <a:ext cx="10170377" cy="5126549"/>
          </a:xfrm>
        </p:spPr>
        <p:txBody>
          <a:bodyPr>
            <a:normAutofit fontScale="47500" lnSpcReduction="20000"/>
          </a:bodyPr>
          <a:lstStyle/>
          <a:p>
            <a:pPr marL="0" lvl="1" indent="0">
              <a:buNone/>
            </a:pPr>
            <a:r>
              <a:rPr lang="en-US" sz="1700" u="sng" dirty="0">
                <a:latin typeface="Lucida Console" panose="020B0609040504020204" pitchFamily="49" charset="0"/>
              </a:rPr>
              <a:t>Database version</a:t>
            </a:r>
          </a:p>
          <a:p>
            <a:pPr marL="0" lvl="1" indent="0">
              <a:buNone/>
            </a:pPr>
            <a:r>
              <a:rPr lang="en-US" sz="1700" dirty="0">
                <a:latin typeface="Lucida Console" panose="020B0609040504020204" pitchFamily="49" charset="0"/>
              </a:rPr>
              <a:t>http://novabank.dedroog.net/api/sqlversion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"</a:t>
            </a:r>
            <a:r>
              <a:rPr lang="en-US" sz="1700" dirty="0" err="1">
                <a:latin typeface="Lucida Console" panose="020B0609040504020204" pitchFamily="49" charset="0"/>
              </a:rPr>
              <a:t>sql_output</a:t>
            </a:r>
            <a:r>
              <a:rPr lang="en-US" sz="1700" dirty="0">
                <a:latin typeface="Lucida Console" panose="020B0609040504020204" pitchFamily="49" charset="0"/>
              </a:rPr>
              <a:t>": "PostgreSQL 16.15 on x86_64-pc-linux-gnu, compiled by </a:t>
            </a:r>
            <a:r>
              <a:rPr lang="en-US" sz="1700" dirty="0" err="1">
                <a:latin typeface="Lucida Console" panose="020B0609040504020204" pitchFamily="49" charset="0"/>
              </a:rPr>
              <a:t>gcc</a:t>
            </a:r>
            <a:r>
              <a:rPr lang="en-US" sz="1700" dirty="0">
                <a:latin typeface="Lucida Console" panose="020B0609040504020204" pitchFamily="49" charset="0"/>
              </a:rPr>
              <a:t> (GCC) 13.2.0, 64-bit"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700" u="sng" dirty="0">
                <a:latin typeface="Lucida Console" panose="020B0609040504020204" pitchFamily="49" charset="0"/>
              </a:rPr>
              <a:t>Client IP</a:t>
            </a:r>
          </a:p>
          <a:p>
            <a:pPr marL="0" lvl="1" indent="0">
              <a:buNone/>
            </a:pPr>
            <a:r>
              <a:rPr lang="en-US" sz="1700" dirty="0">
                <a:latin typeface="Lucida Console" panose="020B0609040504020204" pitchFamily="49" charset="0"/>
              </a:rPr>
              <a:t>http://novabank.dedroog.net/api/sqlsrcip</a:t>
            </a:r>
          </a:p>
          <a:p>
            <a:r>
              <a:rPr lang="en-US" sz="1700" dirty="0">
                <a:latin typeface="Lucida Console" panose="020B0609040504020204" pitchFamily="49" charset="0"/>
                <a:cs typeface="Arial" panose="020B0604020202020204" pitchFamily="34" charset="0"/>
              </a:rPr>
              <a:t>{</a:t>
            </a:r>
          </a:p>
          <a:p>
            <a:r>
              <a:rPr lang="en-US" sz="1700" dirty="0">
                <a:latin typeface="Lucida Console" panose="020B0609040504020204" pitchFamily="49" charset="0"/>
                <a:cs typeface="Arial" panose="020B0604020202020204" pitchFamily="34" charset="0"/>
              </a:rPr>
              <a:t>  "</a:t>
            </a:r>
            <a:r>
              <a:rPr lang="en-US" sz="1700" dirty="0" err="1">
                <a:latin typeface="Lucida Console" panose="020B0609040504020204" pitchFamily="49" charset="0"/>
                <a:cs typeface="Arial" panose="020B0604020202020204" pitchFamily="34" charset="0"/>
              </a:rPr>
              <a:t>sql_output</a:t>
            </a:r>
            <a:r>
              <a:rPr lang="en-US" sz="1700" dirty="0">
                <a:latin typeface="Lucida Console" panose="020B0609040504020204" pitchFamily="49" charset="0"/>
                <a:cs typeface="Arial" panose="020B0604020202020204" pitchFamily="34" charset="0"/>
              </a:rPr>
              <a:t>": "10.0.2.254"</a:t>
            </a:r>
          </a:p>
          <a:p>
            <a:r>
              <a:rPr lang="en-US" sz="1700" dirty="0">
                <a:latin typeface="Lucida Console" panose="020B0609040504020204" pitchFamily="49" charset="0"/>
                <a:cs typeface="Arial" panose="020B0604020202020204" pitchFamily="34" charset="0"/>
              </a:rPr>
              <a:t>}</a:t>
            </a:r>
          </a:p>
          <a:p>
            <a:pPr marL="0" lvl="1" indent="0">
              <a:buNone/>
            </a:pPr>
            <a:r>
              <a:rPr lang="en-US" sz="1700" u="sng" dirty="0">
                <a:latin typeface="Lucida Console" panose="020B0609040504020204" pitchFamily="49" charset="0"/>
              </a:rPr>
              <a:t>Create table</a:t>
            </a:r>
          </a:p>
          <a:p>
            <a:pPr marL="0" lvl="1" indent="0">
              <a:buNone/>
            </a:pPr>
            <a:r>
              <a:rPr lang="en-US" sz="1700" dirty="0">
                <a:latin typeface="Lucida Console" panose="020B0609040504020204" pitchFamily="49" charset="0"/>
              </a:rPr>
              <a:t>http://novabank.dedroog.net//api/sqlsrcipinit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"</a:t>
            </a:r>
            <a:r>
              <a:rPr lang="en-US" sz="1700" dirty="0" err="1">
                <a:latin typeface="Lucida Console" panose="020B0609040504020204" pitchFamily="49" charset="0"/>
              </a:rPr>
              <a:t>table_created</a:t>
            </a:r>
            <a:r>
              <a:rPr lang="en-US" sz="1700" dirty="0">
                <a:latin typeface="Lucida Console" panose="020B0609040504020204" pitchFamily="49" charset="0"/>
              </a:rPr>
              <a:t>": "</a:t>
            </a:r>
            <a:r>
              <a:rPr lang="en-US" sz="1700" dirty="0" err="1">
                <a:latin typeface="Lucida Console" panose="020B0609040504020204" pitchFamily="49" charset="0"/>
              </a:rPr>
              <a:t>srciplog</a:t>
            </a:r>
            <a:r>
              <a:rPr lang="en-US" sz="1700" dirty="0">
                <a:latin typeface="Lucida Console" panose="020B0609040504020204" pitchFamily="49" charset="0"/>
              </a:rPr>
              <a:t>"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700" u="sng" dirty="0">
                <a:latin typeface="Lucida Console" panose="020B0609040504020204" pitchFamily="49" charset="0"/>
              </a:rPr>
              <a:t>Log access</a:t>
            </a:r>
          </a:p>
          <a:p>
            <a:pPr marL="0" lvl="1" indent="0">
              <a:buNone/>
            </a:pPr>
            <a:r>
              <a:rPr lang="en-US" sz="1700" dirty="0">
                <a:latin typeface="Lucida Console" panose="020B0609040504020204" pitchFamily="49" charset="0"/>
              </a:rPr>
              <a:t>http://novabank.dedroog.net//api/sqlsrciplog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"</a:t>
            </a:r>
            <a:r>
              <a:rPr lang="en-US" sz="1700" dirty="0" err="1">
                <a:latin typeface="Lucida Console" panose="020B0609040504020204" pitchFamily="49" charset="0"/>
              </a:rPr>
              <a:t>srciplog</a:t>
            </a:r>
            <a:r>
              <a:rPr lang="en-US" sz="1700" dirty="0">
                <a:latin typeface="Lucida Console" panose="020B0609040504020204" pitchFamily="49" charset="0"/>
              </a:rPr>
              <a:t>": {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  "</a:t>
            </a:r>
            <a:r>
              <a:rPr lang="en-US" sz="1700" dirty="0" err="1">
                <a:latin typeface="Lucida Console" panose="020B0609040504020204" pitchFamily="49" charset="0"/>
              </a:rPr>
              <a:t>ip</a:t>
            </a:r>
            <a:r>
              <a:rPr lang="en-US" sz="1700" dirty="0">
                <a:latin typeface="Lucida Console" panose="020B0609040504020204" pitchFamily="49" charset="0"/>
              </a:rPr>
              <a:t>": "10.0.2.254",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  "timestamp": "2026-10-07 16:12:45.271077"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  }</a:t>
            </a:r>
          </a:p>
          <a:p>
            <a:r>
              <a:rPr lang="en-US" sz="1700" dirty="0"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buNone/>
            </a:pPr>
            <a:endParaRPr lang="en-US" sz="1600" dirty="0"/>
          </a:p>
          <a:p>
            <a:pPr marL="285750" lvl="1"/>
            <a:endParaRPr lang="en-US" sz="16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5A11B-6355-0387-AB61-2505D71B58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0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367567"/>
          </a:xfrm>
        </p:spPr>
        <p:txBody>
          <a:bodyPr>
            <a:noAutofit/>
          </a:bodyPr>
          <a:lstStyle/>
          <a:p>
            <a:r>
              <a:rPr lang="en-US" dirty="0"/>
              <a:t>Marc de Droog</a:t>
            </a:r>
          </a:p>
          <a:p>
            <a:r>
              <a:rPr lang="en-US" dirty="0"/>
              <a:t>+31 6 55 29 00 07</a:t>
            </a:r>
          </a:p>
          <a:p>
            <a:r>
              <a:rPr lang="en-US" dirty="0"/>
              <a:t>marcdedroog@quicknet.nl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251</TotalTime>
  <Words>774</Words>
  <Application>Microsoft Office PowerPoint</Application>
  <PresentationFormat>Widescreen</PresentationFormat>
  <Paragraphs>118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Lucida Console</vt:lpstr>
      <vt:lpstr>Tenorite</vt:lpstr>
      <vt:lpstr>Custom</vt:lpstr>
      <vt:lpstr>Novabank web api  cloud modernization proof of concept </vt:lpstr>
      <vt:lpstr>Context and requirements</vt:lpstr>
      <vt:lpstr>Current state assessment</vt:lpstr>
      <vt:lpstr>Target architecture (1) </vt:lpstr>
      <vt:lpstr>Target architecture (2) </vt:lpstr>
      <vt:lpstr>PowerPoint Presentation</vt:lpstr>
      <vt:lpstr>development</vt:lpstr>
      <vt:lpstr>Practical AI</vt:lpstr>
      <vt:lpstr>Demo deployment</vt:lpstr>
      <vt:lpstr>test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de Droog</dc:creator>
  <cp:lastModifiedBy>Marc de Droog</cp:lastModifiedBy>
  <cp:revision>1</cp:revision>
  <dcterms:created xsi:type="dcterms:W3CDTF">2026-10-07T12:23:01Z</dcterms:created>
  <dcterms:modified xsi:type="dcterms:W3CDTF">2026-10-07T16:34:05Z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