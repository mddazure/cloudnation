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78" r:id="rId5"/>
    <p:sldId id="281" r:id="rId6"/>
    <p:sldId id="279" r:id="rId7"/>
    <p:sldId id="280" r:id="rId8"/>
    <p:sldId id="286" r:id="rId9"/>
    <p:sldId id="282" r:id="rId10"/>
    <p:sldId id="283" r:id="rId11"/>
    <p:sldId id="284" r:id="rId12"/>
    <p:sldId id="287" r:id="rId13"/>
    <p:sldId id="27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1F9AD6F-ACAE-4D67-8DDA-D98C7612B477}" v="45" dt="2026-10-07T16:13:00.14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0655" autoAdjust="0"/>
  </p:normalViewPr>
  <p:slideViewPr>
    <p:cSldViewPr snapToGrid="0">
      <p:cViewPr varScale="1">
        <p:scale>
          <a:sx n="100" d="100"/>
          <a:sy n="100" d="100"/>
        </p:scale>
        <p:origin x="282" y="78"/>
      </p:cViewPr>
      <p:guideLst/>
    </p:cSldViewPr>
  </p:slideViewPr>
  <p:outlineViewPr>
    <p:cViewPr>
      <p:scale>
        <a:sx n="33" d="100"/>
        <a:sy n="33" d="100"/>
      </p:scale>
      <p:origin x="0" y="-28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03" y="29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 de Droog" userId="3ea1787d3693c09c" providerId="LiveId" clId="{20620065-C08F-41CF-B954-B8DD4409FD95}"/>
    <pc:docChg chg="addSld delSld modSld sldOrd">
      <pc:chgData name="Marc de Droog" userId="3ea1787d3693c09c" providerId="LiveId" clId="{20620065-C08F-41CF-B954-B8DD4409FD95}" dt="2026-10-07T16:13:00.148" v="42"/>
      <pc:docMkLst>
        <pc:docMk/>
      </pc:docMkLst>
      <pc:sldChg chg="modSp">
        <pc:chgData name="Marc de Droog" userId="3ea1787d3693c09c" providerId="LiveId" clId="{20620065-C08F-41CF-B954-B8DD4409FD95}" dt="2026-10-07T12:27:45.365" v="0"/>
        <pc:sldMkLst>
          <pc:docMk/>
          <pc:sldMk cId="608796113" sldId="278"/>
        </pc:sldMkLst>
        <pc:spChg chg="mod">
          <ac:chgData name="Marc de Droog" userId="3ea1787d3693c09c" providerId="LiveId" clId="{20620065-C08F-41CF-B954-B8DD4409FD95}" dt="2026-10-07T12:27:45.365" v="0"/>
          <ac:spMkLst>
            <pc:docMk/>
            <pc:sldMk cId="608796113" sldId="278"/>
            <ac:spMk id="2" creationId="{9528DBD1-DB29-D44F-FD5A-3071BB37EF37}"/>
          </ac:spMkLst>
        </pc:spChg>
      </pc:sldChg>
      <pc:sldChg chg="modSp">
        <pc:chgData name="Marc de Droog" userId="3ea1787d3693c09c" providerId="LiveId" clId="{20620065-C08F-41CF-B954-B8DD4409FD95}" dt="2026-10-07T12:30:49.766" v="1"/>
        <pc:sldMkLst>
          <pc:docMk/>
          <pc:sldMk cId="4293325151" sldId="279"/>
        </pc:sldMkLst>
        <pc:spChg chg="mod">
          <ac:chgData name="Marc de Droog" userId="3ea1787d3693c09c" providerId="LiveId" clId="{20620065-C08F-41CF-B954-B8DD4409FD95}" dt="2026-10-07T12:30:49.766" v="1"/>
          <ac:spMkLst>
            <pc:docMk/>
            <pc:sldMk cId="4293325151" sldId="279"/>
            <ac:spMk id="2" creationId="{2CE886B3-FE05-7BD7-2889-BD514FC74066}"/>
          </ac:spMkLst>
        </pc:spChg>
      </pc:sldChg>
      <pc:sldChg chg="addSp modSp add ord">
        <pc:chgData name="Marc de Droog" userId="3ea1787d3693c09c" providerId="LiveId" clId="{20620065-C08F-41CF-B954-B8DD4409FD95}" dt="2026-10-07T12:56:58.747" v="5"/>
        <pc:sldMkLst>
          <pc:docMk/>
          <pc:sldMk cId="1740153309" sldId="281"/>
        </pc:sldMkLst>
        <pc:spChg chg="mod">
          <ac:chgData name="Marc de Droog" userId="3ea1787d3693c09c" providerId="LiveId" clId="{20620065-C08F-41CF-B954-B8DD4409FD95}" dt="2026-10-07T12:54:24.699" v="3"/>
          <ac:spMkLst>
            <pc:docMk/>
            <pc:sldMk cId="1740153309" sldId="281"/>
            <ac:spMk id="11" creationId="{3D529E1D-BFC4-4ACB-9702-B98DC39DA4AE}"/>
          </ac:spMkLst>
        </pc:spChg>
        <pc:spChg chg="add mod">
          <ac:chgData name="Marc de Droog" userId="3ea1787d3693c09c" providerId="LiveId" clId="{20620065-C08F-41CF-B954-B8DD4409FD95}" dt="2026-10-07T12:56:58.747" v="5"/>
          <ac:spMkLst>
            <pc:docMk/>
            <pc:sldMk cId="1740153309" sldId="281"/>
            <ac:spMk id="22" creationId="{CE540301-ECDE-63B8-F528-B6E0A952FC6C}"/>
          </ac:spMkLst>
        </pc:spChg>
        <pc:spChg chg="add mod">
          <ac:chgData name="Marc de Droog" userId="3ea1787d3693c09c" providerId="LiveId" clId="{20620065-C08F-41CF-B954-B8DD4409FD95}" dt="2026-10-07T12:56:58.747" v="5"/>
          <ac:spMkLst>
            <pc:docMk/>
            <pc:sldMk cId="1740153309" sldId="281"/>
            <ac:spMk id="23" creationId="{2D21117B-EF7B-A567-8832-15C3BAEFC833}"/>
          </ac:spMkLst>
        </pc:spChg>
      </pc:sldChg>
      <pc:sldChg chg="modAnim">
        <pc:chgData name="Marc de Droog" userId="3ea1787d3693c09c" providerId="LiveId" clId="{20620065-C08F-41CF-B954-B8DD4409FD95}" dt="2026-10-07T16:06:07.223" v="34"/>
        <pc:sldMkLst>
          <pc:docMk/>
          <pc:sldMk cId="1030026327" sldId="282"/>
        </pc:sldMkLst>
      </pc:sldChg>
      <pc:sldChg chg="modSp add">
        <pc:chgData name="Marc de Droog" userId="3ea1787d3693c09c" providerId="LiveId" clId="{20620065-C08F-41CF-B954-B8DD4409FD95}" dt="2026-10-07T15:35:02.965" v="8"/>
        <pc:sldMkLst>
          <pc:docMk/>
          <pc:sldMk cId="1400367988" sldId="283"/>
        </pc:sldMkLst>
        <pc:spChg chg="mod">
          <ac:chgData name="Marc de Droog" userId="3ea1787d3693c09c" providerId="LiveId" clId="{20620065-C08F-41CF-B954-B8DD4409FD95}" dt="2026-10-07T15:35:02.965" v="8"/>
          <ac:spMkLst>
            <pc:docMk/>
            <pc:sldMk cId="1400367988" sldId="283"/>
            <ac:spMk id="6" creationId="{930B1B1C-759D-9AF0-EBAD-C7E4CD189027}"/>
          </ac:spMkLst>
        </pc:spChg>
      </pc:sldChg>
      <pc:sldChg chg="modSp add">
        <pc:chgData name="Marc de Droog" userId="3ea1787d3693c09c" providerId="LiveId" clId="{20620065-C08F-41CF-B954-B8DD4409FD95}" dt="2026-10-07T16:09:00.465" v="38"/>
        <pc:sldMkLst>
          <pc:docMk/>
          <pc:sldMk cId="2018970457" sldId="284"/>
        </pc:sldMkLst>
        <pc:spChg chg="mod">
          <ac:chgData name="Marc de Droog" userId="3ea1787d3693c09c" providerId="LiveId" clId="{20620065-C08F-41CF-B954-B8DD4409FD95}" dt="2026-10-07T16:09:00.465" v="38"/>
          <ac:spMkLst>
            <pc:docMk/>
            <pc:sldMk cId="2018970457" sldId="284"/>
            <ac:spMk id="6" creationId="{11B7893D-8A22-EA01-6F2D-54F7D7593EF2}"/>
          </ac:spMkLst>
        </pc:spChg>
      </pc:sldChg>
      <pc:sldChg chg="add">
        <pc:chgData name="Marc de Droog" userId="3ea1787d3693c09c" providerId="LiveId" clId="{20620065-C08F-41CF-B954-B8DD4409FD95}" dt="2026-10-07T15:56:04.465" v="19"/>
        <pc:sldMkLst>
          <pc:docMk/>
          <pc:sldMk cId="406916842" sldId="285"/>
        </pc:sldMkLst>
      </pc:sldChg>
      <pc:sldChg chg="add del">
        <pc:chgData name="Marc de Droog" userId="3ea1787d3693c09c" providerId="LiveId" clId="{20620065-C08F-41CF-B954-B8DD4409FD95}" dt="2026-10-07T15:55:54.165" v="18"/>
        <pc:sldMkLst>
          <pc:docMk/>
          <pc:sldMk cId="1211760635" sldId="285"/>
        </pc:sldMkLst>
      </pc:sldChg>
      <pc:sldChg chg="add">
        <pc:chgData name="Marc de Droog" userId="3ea1787d3693c09c" providerId="LiveId" clId="{20620065-C08F-41CF-B954-B8DD4409FD95}" dt="2026-10-07T15:56:35.871" v="20"/>
        <pc:sldMkLst>
          <pc:docMk/>
          <pc:sldMk cId="804405547" sldId="286"/>
        </pc:sldMkLst>
      </pc:sldChg>
      <pc:sldChg chg="modSp add">
        <pc:chgData name="Marc de Droog" userId="3ea1787d3693c09c" providerId="LiveId" clId="{20620065-C08F-41CF-B954-B8DD4409FD95}" dt="2026-10-07T16:13:00.148" v="42"/>
        <pc:sldMkLst>
          <pc:docMk/>
          <pc:sldMk cId="2440905073" sldId="287"/>
        </pc:sldMkLst>
        <pc:spChg chg="mod">
          <ac:chgData name="Marc de Droog" userId="3ea1787d3693c09c" providerId="LiveId" clId="{20620065-C08F-41CF-B954-B8DD4409FD95}" dt="2026-10-07T16:13:00.148" v="42"/>
          <ac:spMkLst>
            <pc:docMk/>
            <pc:sldMk cId="2440905073" sldId="287"/>
            <ac:spMk id="6" creationId="{25855E2E-9EDB-6E19-A737-906AC26190D0}"/>
          </ac:spMkLst>
        </pc:spChg>
      </pc:sldChg>
      <pc:sldChg chg="add del">
        <pc:chgData name="Marc de Droog" userId="3ea1787d3693c09c" providerId="LiveId" clId="{20620065-C08F-41CF-B954-B8DD4409FD95}" dt="2026-10-07T16:08:05.890" v="36"/>
        <pc:sldMkLst>
          <pc:docMk/>
          <pc:sldMk cId="2600672683" sldId="28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10/7/2026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10/7/2026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5226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26838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1918" y="3329790"/>
            <a:ext cx="4941771" cy="3200400"/>
          </a:xfrm>
        </p:spPr>
        <p:txBody>
          <a:bodyPr anchor="ctr">
            <a:noAutofit/>
          </a:bodyPr>
          <a:lstStyle>
            <a:lvl1pPr algn="l">
              <a:defRPr sz="3600" spc="150" baseline="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28341" b="23071"/>
          <a:stretch/>
        </p:blipFill>
        <p:spPr>
          <a:xfrm>
            <a:off x="4229100" y="0"/>
            <a:ext cx="796290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500" y="1020445"/>
            <a:ext cx="2895600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500" y="2674013"/>
            <a:ext cx="2895600" cy="3269589"/>
          </a:xfr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124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018"/>
            <a:ext cx="4179570" cy="3377354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6E214-6A61-C8A7-B1DB-C8C260C13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557818" cy="6858000"/>
            <a:chOff x="0" y="0"/>
            <a:chExt cx="4762501" cy="518636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18BC1BC-99D6-D9F4-19F9-AAE722E2AE61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816F797-248B-2C75-29B9-DB65A809D47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250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680"/>
            <a:ext cx="4179570" cy="337669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D8E94DD-0F7B-3F92-58EA-5F06D557BF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990667" y="0"/>
            <a:ext cx="1126278" cy="251229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19F5397-34DB-BC88-ADF5-AA470A06FE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5080"/>
            <a:ext cx="6576291" cy="6872605"/>
          </a:xfrm>
          <a:custGeom>
            <a:avLst/>
            <a:gdLst>
              <a:gd name="connsiteX0" fmla="*/ 0 w 6576291"/>
              <a:gd name="connsiteY0" fmla="*/ 0 h 6867525"/>
              <a:gd name="connsiteX1" fmla="*/ 6576291 w 6576291"/>
              <a:gd name="connsiteY1" fmla="*/ 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044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  <a:gd name="connsiteX0" fmla="*/ 0 w 6576291"/>
              <a:gd name="connsiteY0" fmla="*/ 0 h 6867525"/>
              <a:gd name="connsiteX1" fmla="*/ 3624811 w 6576291"/>
              <a:gd name="connsiteY1" fmla="*/ 1016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298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6291" h="6872605">
                <a:moveTo>
                  <a:pt x="0" y="5080"/>
                </a:moveTo>
                <a:lnTo>
                  <a:pt x="3629891" y="0"/>
                </a:lnTo>
                <a:lnTo>
                  <a:pt x="6576291" y="6872605"/>
                </a:lnTo>
                <a:lnTo>
                  <a:pt x="0" y="6872605"/>
                </a:lnTo>
                <a:lnTo>
                  <a:pt x="0" y="5080"/>
                </a:lnTo>
                <a:close/>
              </a:path>
            </a:pathLst>
          </a:custGeom>
        </p:spPr>
        <p:txBody>
          <a:bodyPr lIns="182880" tIns="182880" bIns="91440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0186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2318" y="268360"/>
            <a:ext cx="7288282" cy="212117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322388" y="2763078"/>
            <a:ext cx="7288212" cy="34070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96374" y="-25401"/>
            <a:ext cx="3095625" cy="6883401"/>
            <a:chOff x="9096375" y="-25401"/>
            <a:chExt cx="3095625" cy="688340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06400"/>
            <a:ext cx="4179570" cy="345797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E045004-3604-59DC-13E0-7A0B2DF78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329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955F7B05-9431-1FBA-415D-6CF2DF562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25785" y="0"/>
            <a:ext cx="4093633" cy="39123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568961"/>
            <a:ext cx="8420100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97255"/>
            <a:ext cx="3924300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7FF22E3-5928-787E-B062-FA18127D3BD9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2933700" y="3251596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97255"/>
            <a:ext cx="3943627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178E4D0B-96F1-45F3-6B2A-5FA31A37257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410173" y="3251595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F41582C-9AD2-F126-40F3-D43E77D15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6926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1F76B1-7BEF-7A88-1394-1164BFF08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012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1120" y="558801"/>
            <a:ext cx="9953308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217F83-0BDB-C70B-29FE-2651DE191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29817" y="0"/>
            <a:ext cx="7762183" cy="2754814"/>
            <a:chOff x="7334250" y="0"/>
            <a:chExt cx="4857750" cy="1724025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C62368-3F79-C078-7086-B23D2F5A09F8}"/>
                </a:ext>
              </a:extLst>
            </p:cNvPr>
            <p:cNvCxnSpPr/>
            <p:nvPr userDrawn="1"/>
          </p:nvCxnSpPr>
          <p:spPr>
            <a:xfrm flipH="1" flipV="1">
              <a:off x="7334250" y="0"/>
              <a:ext cx="485775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9BDD71-BF2E-BDB0-A625-D8371AEA1C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487150" y="0"/>
              <a:ext cx="704850" cy="17240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3354B96-CD25-BE1C-8CA2-3825F820B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1120" y="2960877"/>
            <a:ext cx="2722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CDD81865-54C7-7674-4B2E-041D05C1D146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341120" y="3392035"/>
            <a:ext cx="2722880" cy="2907164"/>
          </a:xfrm>
        </p:spPr>
        <p:txBody>
          <a:bodyPr tIns="0">
            <a:normAutofit/>
          </a:bodyPr>
          <a:lstStyle>
            <a:lvl1pPr marL="283464" indent="-283464">
              <a:lnSpc>
                <a:spcPct val="100000"/>
              </a:lnSpc>
              <a:buFont typeface="+mj-lt"/>
              <a:buAutoNum type="arabicPeriod"/>
              <a:defRPr sz="1800" b="0" spc="50" baseline="0"/>
            </a:lvl1pPr>
            <a:lvl2pPr marL="566928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sz="1800" spc="50" baseline="0"/>
            </a:lvl2pPr>
            <a:lvl3pPr marL="850392" indent="-342900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sz="1800" spc="50" baseline="0"/>
            </a:lvl3pPr>
            <a:lvl4pPr marL="1042416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sz="1800" spc="50" baseline="0"/>
            </a:lvl4pPr>
            <a:lvl5pPr marL="1074420" indent="-400050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F39BA57-7F1C-623F-BC7F-B689C5AC33EA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754881" y="2960877"/>
            <a:ext cx="5516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4BF07A4-5A33-0B3C-A378-AB2435F1D5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754881" y="3324859"/>
            <a:ext cx="5506720" cy="303148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63DC63A6-41FE-6C2D-9A53-0AE4A6DBF3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0B5130EC-B05B-5489-FBEC-DBEB6D1E737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085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B2CC92D-F90A-CB67-4860-D6939AC29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3094182" y="0"/>
            <a:ext cx="1745673" cy="38977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4" y="1671639"/>
            <a:ext cx="5884027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C376638-5C5B-8E5B-0C26-8F63B98EA4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28230" y="-9144"/>
            <a:ext cx="5481955" cy="6876288"/>
          </a:xfrm>
          <a:custGeom>
            <a:avLst/>
            <a:gdLst>
              <a:gd name="connsiteX0" fmla="*/ 0 w 5476875"/>
              <a:gd name="connsiteY0" fmla="*/ 0 h 6858000"/>
              <a:gd name="connsiteX1" fmla="*/ 547687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0 w 5476875"/>
              <a:gd name="connsiteY0" fmla="*/ 0 h 6858000"/>
              <a:gd name="connsiteX1" fmla="*/ 252031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5080 w 5481955"/>
              <a:gd name="connsiteY0" fmla="*/ 0 h 6858000"/>
              <a:gd name="connsiteX1" fmla="*/ 2525395 w 5481955"/>
              <a:gd name="connsiteY1" fmla="*/ 0 h 6858000"/>
              <a:gd name="connsiteX2" fmla="*/ 5481955 w 5481955"/>
              <a:gd name="connsiteY2" fmla="*/ 6858000 h 6858000"/>
              <a:gd name="connsiteX3" fmla="*/ 5080 w 5481955"/>
              <a:gd name="connsiteY3" fmla="*/ 6858000 h 6858000"/>
              <a:gd name="connsiteX4" fmla="*/ 0 w 5481955"/>
              <a:gd name="connsiteY4" fmla="*/ 4805680 h 6858000"/>
              <a:gd name="connsiteX5" fmla="*/ 5080 w 5481955"/>
              <a:gd name="connsiteY5" fmla="*/ 0 h 685800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81955" h="6863080">
                <a:moveTo>
                  <a:pt x="5080" y="0"/>
                </a:moveTo>
                <a:lnTo>
                  <a:pt x="2525395" y="0"/>
                </a:lnTo>
                <a:lnTo>
                  <a:pt x="5481955" y="6858000"/>
                </a:lnTo>
                <a:lnTo>
                  <a:pt x="899160" y="6863080"/>
                </a:lnTo>
                <a:cubicBezTo>
                  <a:pt x="506307" y="5933440"/>
                  <a:pt x="413173" y="5720080"/>
                  <a:pt x="0" y="4759960"/>
                </a:cubicBezTo>
                <a:cubicBezTo>
                  <a:pt x="1693" y="3158067"/>
                  <a:pt x="3387" y="1601893"/>
                  <a:pt x="5080" y="0"/>
                </a:cubicBezTo>
                <a:close/>
              </a:path>
            </a:pathLst>
          </a:custGeom>
        </p:spPr>
        <p:txBody>
          <a:bodyPr lIns="274320" tIns="91440" bIns="91440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4569D00-2037-2A8D-943B-22FAC1C0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25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5967A9D-0B53-4F3F-0872-495C23A33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643B0E9A-A777-8745-6A36-0A79CB5E036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5453725" y="3660774"/>
            <a:ext cx="5907176" cy="2536826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17780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1" y="895350"/>
            <a:ext cx="3247662" cy="1917700"/>
          </a:xfrm>
        </p:spPr>
        <p:txBody>
          <a:bodyPr>
            <a:normAutofit/>
          </a:bodyPr>
          <a:lstStyle>
            <a:lvl1pPr algn="l">
              <a:defRPr lang="en-US" sz="24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A14C3057-3BCC-F9A2-98D8-17DDB36F1823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38200" y="2813049"/>
            <a:ext cx="3247662" cy="323849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4216396" y="895927"/>
            <a:ext cx="7137404" cy="5115889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F91997C-538B-C8B9-14D7-31A1932F6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1615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1F777EF4-982E-9337-7E82-31DC723C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34303BA-AFB6-0E22-486F-785994E3B7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327564" cy="1505528"/>
            <a:chOff x="0" y="0"/>
            <a:chExt cx="2238376" cy="310515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66E3A08-02EB-7B54-5089-E7A7F19FD725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1238250" cy="310515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14F9BE5-00B2-ADDF-771C-AB098B36C82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2238376" cy="24765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80816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37192"/>
            <a:ext cx="5655197" cy="199786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2705177"/>
            <a:ext cx="5733772" cy="448990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199" y="3154166"/>
            <a:ext cx="5733773" cy="3032733"/>
          </a:xfrm>
        </p:spPr>
        <p:txBody>
          <a:bodyPr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887108" y="2705177"/>
            <a:ext cx="3943627" cy="448989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120DFF5-B64A-9744-4500-1D7BBA19BF1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887107" y="3164867"/>
            <a:ext cx="3943627" cy="3032733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86" y="6356350"/>
            <a:ext cx="411480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0588715-35AD-8BE1-A5FC-E28BDD385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8645" t="319" r="28732" b="73496"/>
          <a:stretch/>
        </p:blipFill>
        <p:spPr>
          <a:xfrm rot="10800000" flipH="1">
            <a:off x="6308436" y="-11"/>
            <a:ext cx="5883564" cy="236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51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44E9C70-0200-3C21-7766-CB9EA5FBF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D5E4B16-2071-DEE9-BE53-F35AFBEFCA57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CB2B071-0355-D550-18A8-9D515CA1698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838200" y="2111381"/>
            <a:ext cx="10515600" cy="357096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B554B2-4C33-2975-9F27-94B8AE71D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3C6776-E983-2BA3-1054-75996FE0F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6800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85018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8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56350"/>
            <a:ext cx="417957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9" r:id="rId3"/>
    <p:sldLayoutId id="2147483670" r:id="rId4"/>
    <p:sldLayoutId id="2147483651" r:id="rId5"/>
    <p:sldLayoutId id="2147483671" r:id="rId6"/>
    <p:sldLayoutId id="2147483672" r:id="rId7"/>
    <p:sldLayoutId id="2147483673" r:id="rId8"/>
    <p:sldLayoutId id="2147483664" r:id="rId9"/>
    <p:sldLayoutId id="2147483674" r:id="rId10"/>
    <p:sldLayoutId id="2147483653" r:id="rId11"/>
    <p:sldLayoutId id="2147483667" r:id="rId12"/>
    <p:sldLayoutId id="214748366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icrosoft/YADA" TargetMode="Externa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8DBD1-DB29-D44F-FD5A-3071BB37EF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38801" y="487018"/>
            <a:ext cx="5959642" cy="3377354"/>
          </a:xfrm>
        </p:spPr>
        <p:txBody>
          <a:bodyPr/>
          <a:lstStyle/>
          <a:p>
            <a:r>
              <a:rPr lang="en-US" dirty="0" err="1"/>
              <a:t>Novabank</a:t>
            </a:r>
            <a:r>
              <a:rPr lang="en-US" dirty="0"/>
              <a:t> web </a:t>
            </a:r>
            <a:r>
              <a:rPr lang="en-US" dirty="0" err="1"/>
              <a:t>api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cloud modernization</a:t>
            </a:r>
            <a:br>
              <a:rPr lang="en-US" dirty="0"/>
            </a:br>
            <a:r>
              <a:rPr lang="en-US" dirty="0"/>
              <a:t>proof of concept </a:t>
            </a:r>
          </a:p>
        </p:txBody>
      </p:sp>
    </p:spTree>
    <p:extLst>
      <p:ext uri="{BB962C8B-B14F-4D97-AF65-F5344CB8AC3E}">
        <p14:creationId xmlns:p14="http://schemas.microsoft.com/office/powerpoint/2010/main" val="6087961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DC3A8-6D0F-341D-FEC7-2570227AF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F1CA0-C65E-B0D8-E539-89BA2C7AF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120" y="705676"/>
            <a:ext cx="9953308" cy="560557"/>
          </a:xfrm>
        </p:spPr>
        <p:txBody>
          <a:bodyPr/>
          <a:lstStyle/>
          <a:p>
            <a:r>
              <a:rPr lang="en-US" dirty="0"/>
              <a:t>Context and requirements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CD330B-B2CD-695F-498F-42DB660ACCD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CE540301-ECDE-63B8-F528-B6E0A952FC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25216" y="1850412"/>
            <a:ext cx="9637643" cy="753640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Novabank</a:t>
            </a:r>
            <a:r>
              <a:rPr lang="en-US" sz="2400" dirty="0"/>
              <a:t> wants to evaluate public cloud.</a:t>
            </a:r>
            <a:br>
              <a:rPr lang="en-US" sz="2400" dirty="0"/>
            </a:br>
            <a:r>
              <a:rPr lang="en-US" sz="2400" dirty="0"/>
              <a:t>They have asked </a:t>
            </a:r>
            <a:r>
              <a:rPr lang="en-US" sz="2400" dirty="0" err="1"/>
              <a:t>CloudNation</a:t>
            </a:r>
            <a:r>
              <a:rPr lang="en-US" sz="2400" dirty="0"/>
              <a:t> to develop a  proof of concept to migrate and modernize a Web API </a:t>
            </a:r>
          </a:p>
          <a:p>
            <a:endParaRPr lang="en-US" sz="2400" dirty="0"/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2D21117B-EF7B-A567-8832-15C3BAEFC833}"/>
              </a:ext>
            </a:extLst>
          </p:cNvPr>
          <p:cNvSpPr txBox="1">
            <a:spLocks/>
          </p:cNvSpPr>
          <p:nvPr/>
        </p:nvSpPr>
        <p:spPr>
          <a:xfrm>
            <a:off x="1315275" y="2985396"/>
            <a:ext cx="10263812" cy="303212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Requirements</a:t>
            </a:r>
          </a:p>
          <a:p>
            <a:pPr lvl="1"/>
            <a:r>
              <a:rPr lang="en-US" dirty="0"/>
              <a:t>Financial Services: regulated, EU data residency requirement applies </a:t>
            </a:r>
          </a:p>
          <a:p>
            <a:pPr lvl="1"/>
            <a:r>
              <a:rPr lang="en-US" dirty="0"/>
              <a:t>Explicit availability target: 99.90%</a:t>
            </a:r>
          </a:p>
          <a:p>
            <a:pPr lvl="1"/>
            <a:r>
              <a:rPr lang="en-US" dirty="0"/>
              <a:t>Disaster Recovery targets: RPO 1 </a:t>
            </a:r>
            <a:r>
              <a:rPr lang="en-US" dirty="0" err="1"/>
              <a:t>hr</a:t>
            </a:r>
            <a:r>
              <a:rPr lang="en-US" dirty="0"/>
              <a:t>, RTO 4 </a:t>
            </a:r>
            <a:r>
              <a:rPr lang="en-US" dirty="0" err="1"/>
              <a:t>hrs</a:t>
            </a:r>
            <a:endParaRPr lang="en-US" dirty="0"/>
          </a:p>
          <a:p>
            <a:pPr lvl="1"/>
            <a:r>
              <a:rPr lang="en-US" dirty="0"/>
              <a:t>Auditability: store and retain logs centrally for a defined term, control and restrict access</a:t>
            </a:r>
          </a:p>
        </p:txBody>
      </p:sp>
    </p:spTree>
    <p:extLst>
      <p:ext uri="{BB962C8B-B14F-4D97-AF65-F5344CB8AC3E}">
        <p14:creationId xmlns:p14="http://schemas.microsoft.com/office/powerpoint/2010/main" val="1740153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86B3-FE05-7BD7-2889-BD514FC74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state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19F78-E974-3607-C1BF-ED31D27B85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Web API hosted in on-premise data center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0" dirty="0"/>
              <a:t>Single VM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0" dirty="0"/>
              <a:t>PostgreSQL database – assumed on a single VM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0" dirty="0"/>
              <a:t>Single environment – no separate dev/test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0" dirty="0"/>
              <a:t>No stated, evaluated availability target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0" dirty="0"/>
              <a:t>Logs kept locally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03CAAA-F7D2-DF61-5B09-655D73BD1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3251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B7D22-B792-3FEC-C829-10E6ED989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438" y="506895"/>
            <a:ext cx="9953625" cy="660262"/>
          </a:xfrm>
        </p:spPr>
        <p:txBody>
          <a:bodyPr/>
          <a:lstStyle/>
          <a:p>
            <a:r>
              <a:rPr lang="en-US" dirty="0"/>
              <a:t>Target architecture (1)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44C179-39BD-C501-2EB4-D35024317B39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1341437" y="1224556"/>
            <a:ext cx="10170377" cy="5265696"/>
          </a:xfrm>
        </p:spPr>
        <p:txBody>
          <a:bodyPr>
            <a:normAutofit/>
          </a:bodyPr>
          <a:lstStyle/>
          <a:p>
            <a:r>
              <a:rPr lang="en-US" sz="2400" u="sng" dirty="0"/>
              <a:t>Cloud platform – Azure</a:t>
            </a:r>
          </a:p>
          <a:p>
            <a:pPr lvl="1"/>
            <a:r>
              <a:rPr lang="en-US" sz="2400" dirty="0"/>
              <a:t>Driven by skills available in the project team</a:t>
            </a:r>
          </a:p>
          <a:p>
            <a:pPr lvl="1"/>
            <a:r>
              <a:rPr lang="en-US" sz="2400" dirty="0"/>
              <a:t>Deployment to Azure meets stated requirements</a:t>
            </a:r>
          </a:p>
          <a:p>
            <a:pPr lvl="1"/>
            <a:r>
              <a:rPr lang="en-US" sz="2400" dirty="0"/>
              <a:t>Other cloud platforms may be evaluated later</a:t>
            </a:r>
          </a:p>
          <a:p>
            <a:pPr marL="0" lvl="1" indent="0">
              <a:buNone/>
            </a:pPr>
            <a:r>
              <a:rPr lang="en-US" sz="2400" u="sng" dirty="0"/>
              <a:t>Prefer Platform Services (PaaS) over Infrastructure (IaaS)</a:t>
            </a:r>
          </a:p>
          <a:p>
            <a:pPr marL="285750" lvl="1"/>
            <a:r>
              <a:rPr lang="en-US" sz="2400" dirty="0"/>
              <a:t>Azure App Service and PostgreSQL Flexible Server</a:t>
            </a:r>
          </a:p>
          <a:p>
            <a:pPr marL="285750" lvl="1"/>
            <a:r>
              <a:rPr lang="en-US" sz="2400" dirty="0"/>
              <a:t>Reduce operational overhead, improve security posture, built-in high availability features</a:t>
            </a:r>
          </a:p>
          <a:p>
            <a:pPr marL="285750" lvl="1"/>
            <a:r>
              <a:rPr lang="en-US" sz="2400" dirty="0"/>
              <a:t>PostgreSQL server is VNET injected, it has no public endpoint</a:t>
            </a:r>
          </a:p>
          <a:p>
            <a:pPr marL="285750" lvl="1"/>
            <a:r>
              <a:rPr lang="en-US" sz="2400" dirty="0"/>
              <a:t>Web App connects to database privately through VNET Integration </a:t>
            </a:r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E6CCBF-942A-6917-D2D2-77C9D85B3B3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5313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53792-3AFF-B257-4630-743081B54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A47DF-AC40-8C92-F418-61FF61A9D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438" y="506895"/>
            <a:ext cx="9953625" cy="660262"/>
          </a:xfrm>
        </p:spPr>
        <p:txBody>
          <a:bodyPr/>
          <a:lstStyle/>
          <a:p>
            <a:r>
              <a:rPr lang="en-US" dirty="0"/>
              <a:t>Target architecture (2)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694C536-14F7-4890-67F3-293EE50E67A5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1341437" y="1224556"/>
            <a:ext cx="10170377" cy="5265696"/>
          </a:xfrm>
        </p:spPr>
        <p:txBody>
          <a:bodyPr>
            <a:normAutofit lnSpcReduction="10000"/>
          </a:bodyPr>
          <a:lstStyle/>
          <a:p>
            <a:pPr marL="0" lvl="1" indent="0">
              <a:buNone/>
            </a:pPr>
            <a:r>
              <a:rPr lang="en-US" sz="2400" u="sng" dirty="0"/>
              <a:t>Primary – Disaster Recovery</a:t>
            </a:r>
          </a:p>
          <a:p>
            <a:pPr marL="285750" lvl="1"/>
            <a:r>
              <a:rPr lang="en-US" sz="2400" dirty="0"/>
              <a:t>Primary: West Europe, DR: North Europe</a:t>
            </a:r>
          </a:p>
          <a:p>
            <a:pPr marL="285750" lvl="1"/>
            <a:r>
              <a:rPr lang="en-US" sz="2400" dirty="0"/>
              <a:t>DR is only deployed when Primary fails – no running costs when not needed</a:t>
            </a:r>
          </a:p>
          <a:p>
            <a:pPr marL="285750" lvl="1"/>
            <a:r>
              <a:rPr lang="en-US" sz="2400" dirty="0"/>
              <a:t>PostgreSQL database configured for Geo Redundant backup</a:t>
            </a:r>
          </a:p>
          <a:p>
            <a:pPr marL="569214" lvl="2"/>
            <a:r>
              <a:rPr lang="en-US" sz="2400" dirty="0"/>
              <a:t>Data is copied asynchronously to North Europe, restored in DR</a:t>
            </a:r>
          </a:p>
          <a:p>
            <a:pPr marL="569214" lvl="2"/>
            <a:r>
              <a:rPr lang="en-US" sz="2400" dirty="0"/>
              <a:t>Database is restored in North Europe from copy when needed</a:t>
            </a:r>
          </a:p>
          <a:p>
            <a:pPr marL="0" lvl="1" indent="0">
              <a:buNone/>
            </a:pPr>
            <a:r>
              <a:rPr lang="en-US" sz="2400" u="sng" dirty="0"/>
              <a:t>Logging</a:t>
            </a:r>
          </a:p>
          <a:p>
            <a:pPr marL="342900" lvl="1" indent="-342900"/>
            <a:r>
              <a:rPr lang="en-US" sz="2400" dirty="0"/>
              <a:t>Logs sent to </a:t>
            </a:r>
            <a:r>
              <a:rPr lang="en-US" sz="2400" dirty="0" err="1"/>
              <a:t>LogAnalytics</a:t>
            </a:r>
            <a:r>
              <a:rPr lang="en-US" sz="2400" dirty="0"/>
              <a:t> Workspaces for each environment</a:t>
            </a:r>
          </a:p>
          <a:p>
            <a:pPr marL="342900" lvl="1" indent="-342900"/>
            <a:r>
              <a:rPr lang="en-US" sz="2400" dirty="0"/>
              <a:t>Retention set to 2 years</a:t>
            </a:r>
          </a:p>
          <a:p>
            <a:pPr marL="342900" lvl="1" indent="-342900"/>
            <a:r>
              <a:rPr lang="en-US" sz="2400" dirty="0"/>
              <a:t>Access to log content restricted to members of specific Entra Security Group with </a:t>
            </a:r>
          </a:p>
          <a:p>
            <a:pPr marL="342900" lvl="1" indent="-342900"/>
            <a:endParaRPr lang="en-US" sz="2400" dirty="0"/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C4D517-EBB6-FAA7-C2DA-B85D34EB342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4055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F4E82-E66E-5C66-B8F3-71047AFD8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8133CE-0D6D-8932-0A36-20116CC865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793" y="0"/>
            <a:ext cx="8228413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C807597-5FEF-B45E-C0A3-0E21ACA3E6EB}"/>
              </a:ext>
            </a:extLst>
          </p:cNvPr>
          <p:cNvSpPr/>
          <p:nvPr/>
        </p:nvSpPr>
        <p:spPr>
          <a:xfrm>
            <a:off x="6401001" y="240632"/>
            <a:ext cx="3953299" cy="56211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026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8789 2.59259E-6 L -0.33789 2.59259E-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890D6-C13C-7964-6812-AE917390C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4CD8D-A71F-03FF-5F3A-E3BC98BAC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438" y="506895"/>
            <a:ext cx="9953625" cy="660262"/>
          </a:xfrm>
        </p:spPr>
        <p:txBody>
          <a:bodyPr/>
          <a:lstStyle/>
          <a:p>
            <a:r>
              <a:rPr lang="en-US"/>
              <a:t>development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0B1B1C-759D-9AF0-EBAD-C7E4CD189027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1341437" y="1224556"/>
            <a:ext cx="10170377" cy="5315392"/>
          </a:xfrm>
        </p:spPr>
        <p:txBody>
          <a:bodyPr>
            <a:normAutofit/>
          </a:bodyPr>
          <a:lstStyle/>
          <a:p>
            <a:r>
              <a:rPr lang="en-US" u="sng" dirty="0"/>
              <a:t>Infrastructure as Code</a:t>
            </a:r>
          </a:p>
          <a:p>
            <a:pPr lvl="1"/>
            <a:r>
              <a:rPr lang="en-US" sz="1600" dirty="0"/>
              <a:t>Bicep – leveraging Azure Verified Modules where possible</a:t>
            </a:r>
          </a:p>
          <a:p>
            <a:pPr lvl="1"/>
            <a:r>
              <a:rPr lang="en-US" sz="1600" dirty="0"/>
              <a:t>Single code base, parameterized for primary, dr and dev deployments </a:t>
            </a:r>
          </a:p>
          <a:p>
            <a:pPr lvl="2"/>
            <a:r>
              <a:rPr lang="en-US" sz="1600" dirty="0" err="1"/>
              <a:t>deploymentMode</a:t>
            </a:r>
            <a:r>
              <a:rPr lang="en-US" sz="1600" dirty="0"/>
              <a:t> = primary | dr</a:t>
            </a:r>
          </a:p>
          <a:p>
            <a:pPr lvl="2"/>
            <a:r>
              <a:rPr lang="en-US" sz="1600" dirty="0" err="1"/>
              <a:t>environmentMode</a:t>
            </a:r>
            <a:r>
              <a:rPr lang="en-US" sz="1600" dirty="0"/>
              <a:t> = prod | dev</a:t>
            </a:r>
          </a:p>
          <a:p>
            <a:pPr lvl="1"/>
            <a:r>
              <a:rPr lang="en-US" sz="1600" dirty="0"/>
              <a:t>No secrets in code or parameter files, password passed in from environment variable</a:t>
            </a:r>
          </a:p>
          <a:p>
            <a:pPr marL="0" lvl="1" indent="0">
              <a:buNone/>
            </a:pPr>
            <a:r>
              <a:rPr lang="en-US" u="sng" dirty="0"/>
              <a:t>No DNS reconfiguration in disaster situation</a:t>
            </a:r>
          </a:p>
          <a:p>
            <a:pPr marL="285750" lvl="1"/>
            <a:r>
              <a:rPr lang="en-US" sz="1600" dirty="0"/>
              <a:t>Single, constant FQDN: Traffic Manager automatically routes traffic to live Web App</a:t>
            </a:r>
          </a:p>
          <a:p>
            <a:pPr marL="0" lvl="1" indent="0">
              <a:buNone/>
            </a:pPr>
            <a:r>
              <a:rPr lang="en-US" u="sng" dirty="0"/>
              <a:t>Primary – Disaster Recovery</a:t>
            </a:r>
          </a:p>
          <a:p>
            <a:pPr marL="285750" lvl="1"/>
            <a:r>
              <a:rPr lang="en-US" sz="1600" dirty="0"/>
              <a:t>In disaster, just redeploy </a:t>
            </a:r>
            <a:r>
              <a:rPr lang="en-US" sz="1600" dirty="0" err="1"/>
              <a:t>main.bicep</a:t>
            </a:r>
            <a:r>
              <a:rPr lang="en-US" sz="1600" dirty="0"/>
              <a:t> with </a:t>
            </a:r>
            <a:r>
              <a:rPr lang="en-US" sz="1600" dirty="0" err="1"/>
              <a:t>deploymentMode</a:t>
            </a:r>
            <a:r>
              <a:rPr lang="en-US" sz="1600" dirty="0"/>
              <a:t> set to dr, no other actions needed</a:t>
            </a:r>
          </a:p>
          <a:p>
            <a:pPr marL="285750" lvl="1"/>
            <a:r>
              <a:rPr lang="en-US" sz="1600" dirty="0"/>
              <a:t>Database is automatically restored from copy</a:t>
            </a:r>
          </a:p>
          <a:p>
            <a:pPr marL="0" lvl="1" indent="0">
              <a:buNone/>
            </a:pPr>
            <a:r>
              <a:rPr lang="en-US" u="sng" dirty="0"/>
              <a:t>Development environment</a:t>
            </a:r>
          </a:p>
          <a:p>
            <a:pPr marL="285750" lvl="1"/>
            <a:r>
              <a:rPr lang="en-US" sz="1600" dirty="0"/>
              <a:t>Separate deployment</a:t>
            </a:r>
          </a:p>
          <a:p>
            <a:pPr marL="285750" lvl="1"/>
            <a:r>
              <a:rPr lang="en-US" sz="1600" dirty="0"/>
              <a:t>Uses lower grade, cheaper component SKUs</a:t>
            </a:r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6A76CF-551D-D96B-4DD0-734D98124EC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03679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3D0D8-DA1C-D17A-9FEC-808E5190C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52074-8433-28E2-CB9E-10D742493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438" y="506895"/>
            <a:ext cx="9953625" cy="660262"/>
          </a:xfrm>
        </p:spPr>
        <p:txBody>
          <a:bodyPr/>
          <a:lstStyle/>
          <a:p>
            <a:r>
              <a:rPr lang="en-US" dirty="0"/>
              <a:t>Demo deployment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B7893D-8A22-EA01-6F2D-54F7D7593EF2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1341437" y="1224556"/>
            <a:ext cx="10170377" cy="5126549"/>
          </a:xfrm>
        </p:spPr>
        <p:txBody>
          <a:bodyPr>
            <a:normAutofit lnSpcReduction="10000"/>
          </a:bodyPr>
          <a:lstStyle/>
          <a:p>
            <a:r>
              <a:rPr lang="en-US" sz="2000" u="sng" dirty="0"/>
              <a:t>Web API application</a:t>
            </a:r>
          </a:p>
          <a:p>
            <a:pPr lvl="1"/>
            <a:r>
              <a:rPr lang="en-US" sz="2000" dirty="0"/>
              <a:t>API component from YADA demo app </a:t>
            </a:r>
            <a:r>
              <a:rPr lang="en-US" sz="2000" dirty="0" err="1">
                <a:hlinkClick r:id="rId2"/>
              </a:rPr>
              <a:t>microsoft</a:t>
            </a:r>
            <a:r>
              <a:rPr lang="en-US" sz="2000" dirty="0">
                <a:hlinkClick r:id="rId2"/>
              </a:rPr>
              <a:t>/YADA: Yet Another Demo App</a:t>
            </a:r>
            <a:endParaRPr lang="en-US" sz="2000" dirty="0"/>
          </a:p>
          <a:p>
            <a:pPr lvl="1"/>
            <a:r>
              <a:rPr lang="en-US" sz="2000" dirty="0"/>
              <a:t>Container image deployed to Web App by </a:t>
            </a:r>
            <a:r>
              <a:rPr lang="en-US" sz="2000" dirty="0" err="1"/>
              <a:t>IaC</a:t>
            </a:r>
            <a:r>
              <a:rPr lang="en-US" sz="2000" dirty="0"/>
              <a:t>, environment variables set appropriately</a:t>
            </a:r>
          </a:p>
          <a:p>
            <a:pPr lvl="1"/>
            <a:r>
              <a:rPr lang="en-US" sz="2000" dirty="0"/>
              <a:t>To avoid certificate complexities, the demo environment uses non-TLS secured (http://) connections</a:t>
            </a:r>
            <a:br>
              <a:rPr lang="en-US" sz="2000" dirty="0"/>
            </a:br>
            <a:r>
              <a:rPr lang="en-US" sz="2000" dirty="0"/>
              <a:t>(this will be changed for production)</a:t>
            </a:r>
          </a:p>
          <a:p>
            <a:pPr lvl="1"/>
            <a:r>
              <a:rPr lang="en-US" sz="2000" dirty="0"/>
              <a:t>API exposes endpoints to:</a:t>
            </a:r>
          </a:p>
          <a:p>
            <a:pPr lvl="2"/>
            <a:r>
              <a:rPr lang="en-US" sz="2000" dirty="0"/>
              <a:t>Query database for version</a:t>
            </a:r>
          </a:p>
          <a:p>
            <a:pPr lvl="2"/>
            <a:r>
              <a:rPr lang="en-US" sz="2000" dirty="0"/>
              <a:t>Return client source IP</a:t>
            </a:r>
          </a:p>
          <a:p>
            <a:pPr lvl="2"/>
            <a:r>
              <a:rPr lang="en-US" sz="2000" dirty="0"/>
              <a:t>Write client access events with source IP and timestamp to a table</a:t>
            </a:r>
          </a:p>
          <a:p>
            <a:pPr marL="0" lvl="1" indent="0">
              <a:buNone/>
            </a:pPr>
            <a:r>
              <a:rPr lang="en-US" sz="2000" u="sng" dirty="0"/>
              <a:t>Database</a:t>
            </a:r>
          </a:p>
          <a:p>
            <a:pPr marL="285750" lvl="1"/>
            <a:r>
              <a:rPr lang="en-US" sz="2000" dirty="0"/>
              <a:t>Empty / default PostgreSQL deployment, no data loaded</a:t>
            </a:r>
          </a:p>
          <a:p>
            <a:pPr marL="0" lvl="1" indent="0">
              <a:buNone/>
            </a:pPr>
            <a:endParaRPr lang="en-US" sz="1600" dirty="0"/>
          </a:p>
          <a:p>
            <a:pPr marL="285750" lvl="1"/>
            <a:endParaRPr lang="en-US" sz="1600" dirty="0"/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F34208-E324-8C02-D13D-AB72E945B7C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9704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87E7B-D3A8-17F7-A8B9-0A04E0108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746FE-6A4E-D6C5-B2D0-068BE384E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438" y="506895"/>
            <a:ext cx="9953625" cy="660262"/>
          </a:xfrm>
        </p:spPr>
        <p:txBody>
          <a:bodyPr/>
          <a:lstStyle/>
          <a:p>
            <a:r>
              <a:rPr lang="en-US" dirty="0"/>
              <a:t>test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855E2E-9EDB-6E19-A737-906AC26190D0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1341437" y="1224556"/>
            <a:ext cx="10170377" cy="5126549"/>
          </a:xfrm>
        </p:spPr>
        <p:txBody>
          <a:bodyPr>
            <a:normAutofit fontScale="47500" lnSpcReduction="20000"/>
          </a:bodyPr>
          <a:lstStyle/>
          <a:p>
            <a:pPr marL="0" lvl="1" indent="0">
              <a:buNone/>
            </a:pPr>
            <a:r>
              <a:rPr lang="en-US" sz="1700" u="sng" dirty="0">
                <a:latin typeface="Lucida Console" panose="020B0609040504020204" pitchFamily="49" charset="0"/>
              </a:rPr>
              <a:t>Database version</a:t>
            </a:r>
          </a:p>
          <a:p>
            <a:pPr marL="0" lvl="1" indent="0">
              <a:buNone/>
            </a:pPr>
            <a:r>
              <a:rPr lang="en-US" sz="1700" dirty="0">
                <a:latin typeface="Lucida Console" panose="020B0609040504020204" pitchFamily="49" charset="0"/>
              </a:rPr>
              <a:t>http://novabank.dedroog.net/api/sqlversion</a:t>
            </a:r>
          </a:p>
          <a:p>
            <a:r>
              <a:rPr lang="en-US" sz="1700" dirty="0">
                <a:latin typeface="Lucida Console" panose="020B0609040504020204" pitchFamily="49" charset="0"/>
              </a:rPr>
              <a:t>{</a:t>
            </a:r>
          </a:p>
          <a:p>
            <a:r>
              <a:rPr lang="en-US" sz="1700" dirty="0">
                <a:latin typeface="Lucida Console" panose="020B0609040504020204" pitchFamily="49" charset="0"/>
              </a:rPr>
              <a:t>  "</a:t>
            </a:r>
            <a:r>
              <a:rPr lang="en-US" sz="1700" dirty="0" err="1">
                <a:latin typeface="Lucida Console" panose="020B0609040504020204" pitchFamily="49" charset="0"/>
              </a:rPr>
              <a:t>sql_output</a:t>
            </a:r>
            <a:r>
              <a:rPr lang="en-US" sz="1700" dirty="0">
                <a:latin typeface="Lucida Console" panose="020B0609040504020204" pitchFamily="49" charset="0"/>
              </a:rPr>
              <a:t>": "PostgreSQL 16.15 on x86_64-pc-linux-gnu, compiled by </a:t>
            </a:r>
            <a:r>
              <a:rPr lang="en-US" sz="1700" dirty="0" err="1">
                <a:latin typeface="Lucida Console" panose="020B0609040504020204" pitchFamily="49" charset="0"/>
              </a:rPr>
              <a:t>gcc</a:t>
            </a:r>
            <a:r>
              <a:rPr lang="en-US" sz="1700" dirty="0">
                <a:latin typeface="Lucida Console" panose="020B0609040504020204" pitchFamily="49" charset="0"/>
              </a:rPr>
              <a:t> (GCC) 13.2.0, 64-bit"</a:t>
            </a:r>
          </a:p>
          <a:p>
            <a:r>
              <a:rPr lang="en-US" sz="1700" dirty="0">
                <a:latin typeface="Lucida Console" panose="020B0609040504020204" pitchFamily="49" charset="0"/>
              </a:rPr>
              <a:t>}</a:t>
            </a:r>
          </a:p>
          <a:p>
            <a:r>
              <a:rPr lang="en-US" sz="1700" u="sng" dirty="0">
                <a:latin typeface="Lucida Console" panose="020B0609040504020204" pitchFamily="49" charset="0"/>
              </a:rPr>
              <a:t>Client IP</a:t>
            </a:r>
          </a:p>
          <a:p>
            <a:pPr marL="0" lvl="1" indent="0">
              <a:buNone/>
            </a:pPr>
            <a:r>
              <a:rPr lang="en-US" sz="1700" dirty="0">
                <a:latin typeface="Lucida Console" panose="020B0609040504020204" pitchFamily="49" charset="0"/>
              </a:rPr>
              <a:t>http://novabank.dedroog.net/api/sqlsrcip</a:t>
            </a:r>
          </a:p>
          <a:p>
            <a:r>
              <a:rPr lang="en-US" sz="1700" dirty="0">
                <a:latin typeface="Lucida Console" panose="020B0609040504020204" pitchFamily="49" charset="0"/>
                <a:cs typeface="Arial" panose="020B0604020202020204" pitchFamily="34" charset="0"/>
              </a:rPr>
              <a:t>{</a:t>
            </a:r>
          </a:p>
          <a:p>
            <a:r>
              <a:rPr lang="en-US" sz="1700" dirty="0">
                <a:latin typeface="Lucida Console" panose="020B0609040504020204" pitchFamily="49" charset="0"/>
                <a:cs typeface="Arial" panose="020B0604020202020204" pitchFamily="34" charset="0"/>
              </a:rPr>
              <a:t>  "</a:t>
            </a:r>
            <a:r>
              <a:rPr lang="en-US" sz="1700" dirty="0" err="1">
                <a:latin typeface="Lucida Console" panose="020B0609040504020204" pitchFamily="49" charset="0"/>
                <a:cs typeface="Arial" panose="020B0604020202020204" pitchFamily="34" charset="0"/>
              </a:rPr>
              <a:t>sql_output</a:t>
            </a:r>
            <a:r>
              <a:rPr lang="en-US" sz="1700" dirty="0">
                <a:latin typeface="Lucida Console" panose="020B0609040504020204" pitchFamily="49" charset="0"/>
                <a:cs typeface="Arial" panose="020B0604020202020204" pitchFamily="34" charset="0"/>
              </a:rPr>
              <a:t>": "10.0.2.254"</a:t>
            </a:r>
          </a:p>
          <a:p>
            <a:r>
              <a:rPr lang="en-US" sz="1700" dirty="0">
                <a:latin typeface="Lucida Console" panose="020B0609040504020204" pitchFamily="49" charset="0"/>
                <a:cs typeface="Arial" panose="020B0604020202020204" pitchFamily="34" charset="0"/>
              </a:rPr>
              <a:t>}</a:t>
            </a:r>
          </a:p>
          <a:p>
            <a:pPr marL="0" lvl="1" indent="0">
              <a:buNone/>
            </a:pPr>
            <a:r>
              <a:rPr lang="en-US" sz="1700" u="sng" dirty="0">
                <a:latin typeface="Lucida Console" panose="020B0609040504020204" pitchFamily="49" charset="0"/>
              </a:rPr>
              <a:t>Create table</a:t>
            </a:r>
          </a:p>
          <a:p>
            <a:pPr marL="0" lvl="1" indent="0">
              <a:buNone/>
            </a:pPr>
            <a:r>
              <a:rPr lang="en-US" sz="1700" dirty="0">
                <a:latin typeface="Lucida Console" panose="020B0609040504020204" pitchFamily="49" charset="0"/>
              </a:rPr>
              <a:t>http://novabank.dedroog.net//api/sqlsrcipinit</a:t>
            </a:r>
          </a:p>
          <a:p>
            <a:r>
              <a:rPr lang="en-US" sz="1700" dirty="0">
                <a:latin typeface="Lucida Console" panose="020B0609040504020204" pitchFamily="49" charset="0"/>
              </a:rPr>
              <a:t>{</a:t>
            </a:r>
          </a:p>
          <a:p>
            <a:r>
              <a:rPr lang="en-US" sz="1700" dirty="0">
                <a:latin typeface="Lucida Console" panose="020B0609040504020204" pitchFamily="49" charset="0"/>
              </a:rPr>
              <a:t>  "</a:t>
            </a:r>
            <a:r>
              <a:rPr lang="en-US" sz="1700" dirty="0" err="1">
                <a:latin typeface="Lucida Console" panose="020B0609040504020204" pitchFamily="49" charset="0"/>
              </a:rPr>
              <a:t>table_created</a:t>
            </a:r>
            <a:r>
              <a:rPr lang="en-US" sz="1700" dirty="0">
                <a:latin typeface="Lucida Console" panose="020B0609040504020204" pitchFamily="49" charset="0"/>
              </a:rPr>
              <a:t>": "</a:t>
            </a:r>
            <a:r>
              <a:rPr lang="en-US" sz="1700" dirty="0" err="1">
                <a:latin typeface="Lucida Console" panose="020B0609040504020204" pitchFamily="49" charset="0"/>
              </a:rPr>
              <a:t>srciplog</a:t>
            </a:r>
            <a:r>
              <a:rPr lang="en-US" sz="1700" dirty="0">
                <a:latin typeface="Lucida Console" panose="020B0609040504020204" pitchFamily="49" charset="0"/>
              </a:rPr>
              <a:t>"</a:t>
            </a:r>
          </a:p>
          <a:p>
            <a:r>
              <a:rPr lang="en-US" sz="1700" dirty="0">
                <a:latin typeface="Lucida Console" panose="020B0609040504020204" pitchFamily="49" charset="0"/>
              </a:rPr>
              <a:t>}</a:t>
            </a:r>
          </a:p>
          <a:p>
            <a:r>
              <a:rPr lang="en-US" sz="1700" u="sng" dirty="0">
                <a:latin typeface="Lucida Console" panose="020B0609040504020204" pitchFamily="49" charset="0"/>
              </a:rPr>
              <a:t>Log access</a:t>
            </a:r>
          </a:p>
          <a:p>
            <a:pPr marL="0" lvl="1" indent="0">
              <a:buNone/>
            </a:pPr>
            <a:r>
              <a:rPr lang="en-US" sz="1700" dirty="0">
                <a:latin typeface="Lucida Console" panose="020B0609040504020204" pitchFamily="49" charset="0"/>
              </a:rPr>
              <a:t>http://novabank.dedroog.net//api/sqlsrciplog</a:t>
            </a:r>
          </a:p>
          <a:p>
            <a:r>
              <a:rPr lang="en-US" sz="1700" dirty="0">
                <a:latin typeface="Lucida Console" panose="020B0609040504020204" pitchFamily="49" charset="0"/>
              </a:rPr>
              <a:t>{</a:t>
            </a:r>
          </a:p>
          <a:p>
            <a:r>
              <a:rPr lang="en-US" sz="1700" dirty="0">
                <a:latin typeface="Lucida Console" panose="020B0609040504020204" pitchFamily="49" charset="0"/>
              </a:rPr>
              <a:t>  "</a:t>
            </a:r>
            <a:r>
              <a:rPr lang="en-US" sz="1700" dirty="0" err="1">
                <a:latin typeface="Lucida Console" panose="020B0609040504020204" pitchFamily="49" charset="0"/>
              </a:rPr>
              <a:t>srciplog</a:t>
            </a:r>
            <a:r>
              <a:rPr lang="en-US" sz="1700" dirty="0">
                <a:latin typeface="Lucida Console" panose="020B0609040504020204" pitchFamily="49" charset="0"/>
              </a:rPr>
              <a:t>": {</a:t>
            </a:r>
          </a:p>
          <a:p>
            <a:r>
              <a:rPr lang="en-US" sz="1700" dirty="0">
                <a:latin typeface="Lucida Console" panose="020B0609040504020204" pitchFamily="49" charset="0"/>
              </a:rPr>
              <a:t>    "</a:t>
            </a:r>
            <a:r>
              <a:rPr lang="en-US" sz="1700" dirty="0" err="1">
                <a:latin typeface="Lucida Console" panose="020B0609040504020204" pitchFamily="49" charset="0"/>
              </a:rPr>
              <a:t>ip</a:t>
            </a:r>
            <a:r>
              <a:rPr lang="en-US" sz="1700" dirty="0">
                <a:latin typeface="Lucida Console" panose="020B0609040504020204" pitchFamily="49" charset="0"/>
              </a:rPr>
              <a:t>": "10.0.2.254",</a:t>
            </a:r>
          </a:p>
          <a:p>
            <a:r>
              <a:rPr lang="en-US" sz="1700" dirty="0">
                <a:latin typeface="Lucida Console" panose="020B0609040504020204" pitchFamily="49" charset="0"/>
              </a:rPr>
              <a:t>    "timestamp": "2026-10-07 16:12:45.271077"</a:t>
            </a:r>
          </a:p>
          <a:p>
            <a:r>
              <a:rPr lang="en-US" sz="1700" dirty="0">
                <a:latin typeface="Lucida Console" panose="020B0609040504020204" pitchFamily="49" charset="0"/>
              </a:rPr>
              <a:t>  }</a:t>
            </a:r>
          </a:p>
          <a:p>
            <a:r>
              <a:rPr lang="en-US" sz="1700" dirty="0">
                <a:latin typeface="Lucida Console" panose="020B0609040504020204" pitchFamily="49" charset="0"/>
              </a:rPr>
              <a:t>}</a:t>
            </a:r>
          </a:p>
          <a:p>
            <a:pPr marL="0" lvl="1" indent="0">
              <a:buNone/>
            </a:pPr>
            <a:endParaRPr lang="en-US" sz="1600" dirty="0"/>
          </a:p>
          <a:p>
            <a:pPr marL="285750" lvl="1"/>
            <a:endParaRPr lang="en-US" sz="1600" dirty="0"/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F5A11B-6355-0387-AB61-2505D71B585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905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1EDE-5423-435C-B149-87AB1BC22B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4179570" cy="1524735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64C29E-DF30-4DC6-AB95-2016F9A703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367567"/>
          </a:xfrm>
        </p:spPr>
        <p:txBody>
          <a:bodyPr>
            <a:noAutofit/>
          </a:bodyPr>
          <a:lstStyle/>
          <a:p>
            <a:r>
              <a:rPr lang="en-US" dirty="0"/>
              <a:t>Marc de Droog</a:t>
            </a:r>
          </a:p>
          <a:p>
            <a:r>
              <a:rPr lang="en-US" dirty="0"/>
              <a:t>+31 6 55 29 00 07</a:t>
            </a:r>
          </a:p>
          <a:p>
            <a:r>
              <a:rPr lang="en-US" dirty="0"/>
              <a:t>marcdedroog@quicknet.nl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127D99-645F-4FCF-9573-FDFE2A34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78756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EDE3176-A15D-46A3-BDDB-64A0D73632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9168DCE-134F-4610-A6AA-88CEBE8D71D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Minimalist presentation</Template>
  <TotalTime>233</TotalTime>
  <Words>636</Words>
  <Application>Microsoft Office PowerPoint</Application>
  <PresentationFormat>Widescreen</PresentationFormat>
  <Paragraphs>103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Lucida Console</vt:lpstr>
      <vt:lpstr>Tenorite</vt:lpstr>
      <vt:lpstr>Custom</vt:lpstr>
      <vt:lpstr>Novabank web api  cloud modernization proof of concept </vt:lpstr>
      <vt:lpstr>Context and requirements</vt:lpstr>
      <vt:lpstr>Current state assessment</vt:lpstr>
      <vt:lpstr>Target architecture (1) </vt:lpstr>
      <vt:lpstr>Target architecture (2) </vt:lpstr>
      <vt:lpstr>PowerPoint Presentation</vt:lpstr>
      <vt:lpstr>development</vt:lpstr>
      <vt:lpstr>Demo deployment</vt:lpstr>
      <vt:lpstr>test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 de Droog</dc:creator>
  <cp:lastModifiedBy>Marc de Droog</cp:lastModifiedBy>
  <cp:revision>1</cp:revision>
  <dcterms:created xsi:type="dcterms:W3CDTF">2026-10-07T12:23:01Z</dcterms:created>
  <dcterms:modified xsi:type="dcterms:W3CDTF">2026-10-07T16:16:18Z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